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0" r:id="rId5"/>
    <p:sldId id="260" r:id="rId6"/>
    <p:sldId id="271" r:id="rId7"/>
    <p:sldId id="266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9" autoAdjust="0"/>
    <p:restoredTop sz="95033" autoAdjust="0"/>
  </p:normalViewPr>
  <p:slideViewPr>
    <p:cSldViewPr snapToGrid="0">
      <p:cViewPr varScale="1">
        <p:scale>
          <a:sx n="80" d="100"/>
          <a:sy n="80" d="100"/>
        </p:scale>
        <p:origin x="5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2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3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3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3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4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4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4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4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5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5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5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5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6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951BE867CD8ECC0/Documents/Apple%20Project%20(Task%206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2).xlsx]Task 2.1!PivotTable3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Avg</a:t>
            </a:r>
            <a:r>
              <a:rPr lang="en-US" b="1" baseline="0">
                <a:solidFill>
                  <a:schemeClr val="tx1"/>
                </a:solidFill>
              </a:rPr>
              <a:t> Engagement of each Platform</a:t>
            </a:r>
            <a:endParaRPr lang="en-US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51756780402449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</c:pivotFmt>
      <c:pivotFmt>
        <c:idx val="2"/>
        <c:spPr>
          <a:solidFill>
            <a:srgbClr val="FF33CC"/>
          </a:solidFill>
          <a:ln>
            <a:noFill/>
          </a:ln>
          <a:effectLst/>
        </c:spPr>
      </c:pivotFmt>
      <c:pivotFmt>
        <c:idx val="3"/>
        <c:spPr>
          <a:solidFill>
            <a:srgbClr val="00B0F0"/>
          </a:solidFill>
          <a:ln>
            <a:noFill/>
          </a:ln>
          <a:effectLst/>
        </c:spPr>
      </c:pivotFmt>
      <c:pivotFmt>
        <c:idx val="4"/>
        <c:spPr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rgbClr val="00B0F0"/>
          </a:solidFill>
          <a:ln>
            <a:noFill/>
          </a:ln>
          <a:effectLst/>
        </c:spPr>
      </c:pivotFmt>
      <c:pivotFmt>
        <c:idx val="8"/>
        <c:spPr>
          <a:solidFill>
            <a:srgbClr val="FF33CC"/>
          </a:solidFill>
          <a:ln>
            <a:noFill/>
          </a:ln>
          <a:effectLst/>
        </c:spPr>
      </c:pivotFmt>
      <c:pivotFmt>
        <c:idx val="9"/>
        <c:spPr>
          <a:solidFill>
            <a:srgbClr val="FF0000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rgbClr val="00B0F0"/>
          </a:solidFill>
          <a:ln>
            <a:noFill/>
          </a:ln>
          <a:effectLst/>
        </c:spPr>
      </c:pivotFmt>
      <c:pivotFmt>
        <c:idx val="13"/>
        <c:spPr>
          <a:solidFill>
            <a:srgbClr val="FF33CC"/>
          </a:solidFill>
          <a:ln>
            <a:noFill/>
          </a:ln>
          <a:effectLst/>
        </c:spPr>
      </c:pivotFmt>
      <c:pivotFmt>
        <c:idx val="14"/>
        <c:spPr>
          <a:solidFill>
            <a:srgbClr val="FF0000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136830313589981"/>
          <c:y val="0.15269075429395096"/>
          <c:w val="0.81770655069775022"/>
          <c:h val="0.623086541265675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2.1'!$R$2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99-4C74-88DB-9BF8C15669BF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99-4C74-88DB-9BF8C15669BF}"/>
              </c:ext>
            </c:extLst>
          </c:dPt>
          <c:dPt>
            <c:idx val="2"/>
            <c:invertIfNegative val="0"/>
            <c:bubble3D val="0"/>
            <c:spPr>
              <a:solidFill>
                <a:srgbClr val="FF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99-4C74-88DB-9BF8C15669BF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99-4C74-88DB-9BF8C15669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2.1'!$Q$3:$Q$7</c:f>
              <c:strCache>
                <c:ptCount val="4"/>
                <c:pt idx="0">
                  <c:v>Twitter</c:v>
                </c:pt>
                <c:pt idx="1">
                  <c:v>LinkedIn</c:v>
                </c:pt>
                <c:pt idx="2">
                  <c:v>Instagram</c:v>
                </c:pt>
                <c:pt idx="3">
                  <c:v>YouTube</c:v>
                </c:pt>
              </c:strCache>
            </c:strRef>
          </c:cat>
          <c:val>
            <c:numRef>
              <c:f>'Task 2.1'!$R$3:$R$7</c:f>
              <c:numCache>
                <c:formatCode>0.00%</c:formatCode>
                <c:ptCount val="4"/>
                <c:pt idx="0">
                  <c:v>0.13887772583296515</c:v>
                </c:pt>
                <c:pt idx="1">
                  <c:v>0.12413746843755122</c:v>
                </c:pt>
                <c:pt idx="2">
                  <c:v>0.11777135601638941</c:v>
                </c:pt>
                <c:pt idx="3">
                  <c:v>0.11218828039990524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D99-4C74-88DB-9BF8C15669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59092223"/>
        <c:axId val="2059072543"/>
      </c:barChart>
      <c:catAx>
        <c:axId val="20590922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Platform</a:t>
                </a:r>
              </a:p>
            </c:rich>
          </c:tx>
          <c:layout>
            <c:manualLayout>
              <c:xMode val="edge"/>
              <c:yMode val="edge"/>
              <c:x val="0.44796172353455821"/>
              <c:y val="0.92960629921259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9072543"/>
        <c:crosses val="autoZero"/>
        <c:auto val="1"/>
        <c:lblAlgn val="ctr"/>
        <c:lblOffset val="100"/>
        <c:noMultiLvlLbl val="0"/>
      </c:catAx>
      <c:valAx>
        <c:axId val="20590725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Avg Engagement Rate</a:t>
                </a:r>
              </a:p>
            </c:rich>
          </c:tx>
          <c:layout>
            <c:manualLayout>
              <c:xMode val="edge"/>
              <c:yMode val="edge"/>
              <c:x val="2.7777777777777779E-3"/>
              <c:y val="0.264795494313210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9092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2).xlsx]Task 2.4!PivotTable1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Top</a:t>
            </a:r>
            <a:r>
              <a:rPr lang="en-US" b="1" baseline="0">
                <a:solidFill>
                  <a:schemeClr val="tx1"/>
                </a:solidFill>
              </a:rPr>
              <a:t> Performing Hashags</a:t>
            </a:r>
            <a:endParaRPr lang="en-US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240823743185947"/>
          <c:y val="0.13535741895441619"/>
          <c:w val="0.84759176256814073"/>
          <c:h val="0.532537855844942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2.4'!$K$2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2.4'!$J$3:$J$6</c:f>
              <c:strCache>
                <c:ptCount val="4"/>
                <c:pt idx="0">
                  <c:v>#ShotOniPhone</c:v>
                </c:pt>
                <c:pt idx="1">
                  <c:v>#AppleWatchUltra2,#HealthTech</c:v>
                </c:pt>
                <c:pt idx="2">
                  <c:v>#AppleMusic,#AppleLifestyle</c:v>
                </c:pt>
                <c:pt idx="3">
                  <c:v>#AppleEvent,#iPhone16</c:v>
                </c:pt>
              </c:strCache>
            </c:strRef>
          </c:cat>
          <c:val>
            <c:numRef>
              <c:f>'Task 2.4'!$K$3:$K$6</c:f>
              <c:numCache>
                <c:formatCode>0.00%</c:formatCode>
                <c:ptCount val="4"/>
                <c:pt idx="0">
                  <c:v>0.15329917321810049</c:v>
                </c:pt>
                <c:pt idx="1">
                  <c:v>0.14380411271271723</c:v>
                </c:pt>
                <c:pt idx="2">
                  <c:v>0.13494947381413464</c:v>
                </c:pt>
                <c:pt idx="3">
                  <c:v>0.12600406732043223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60-4409-B160-FBF91F6E55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1579887"/>
        <c:axId val="481579407"/>
      </c:barChart>
      <c:catAx>
        <c:axId val="4815798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Hashtags</a:t>
                </a:r>
              </a:p>
            </c:rich>
          </c:tx>
          <c:layout>
            <c:manualLayout>
              <c:xMode val="edge"/>
              <c:yMode val="edge"/>
              <c:x val="0.45235796486977592"/>
              <c:y val="0.947802817129836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1579407"/>
        <c:crosses val="autoZero"/>
        <c:auto val="1"/>
        <c:lblAlgn val="ctr"/>
        <c:lblOffset val="100"/>
        <c:noMultiLvlLbl val="0"/>
      </c:catAx>
      <c:valAx>
        <c:axId val="4815794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Engagement</a:t>
                </a:r>
                <a:r>
                  <a:rPr lang="en-IN" b="1" baseline="0">
                    <a:solidFill>
                      <a:schemeClr val="tx1"/>
                    </a:solidFill>
                  </a:rPr>
                  <a:t> Rate</a:t>
                </a:r>
              </a:p>
            </c:rich>
          </c:tx>
          <c:layout>
            <c:manualLayout>
              <c:xMode val="edge"/>
              <c:yMode val="edge"/>
              <c:x val="2.5641025641025641E-3"/>
              <c:y val="0.325757465177820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1579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3).xlsx]Task 3.2!PivotTable13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Avg</a:t>
            </a:r>
            <a:r>
              <a:rPr lang="en-US" b="1" baseline="0">
                <a:solidFill>
                  <a:schemeClr val="tx1"/>
                </a:solidFill>
              </a:rPr>
              <a:t> Follower Growth Rate Per Platform</a:t>
            </a:r>
            <a:endParaRPr lang="en-US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0.3518518518518518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2.7777777777777267E-3"/>
              <c:y val="-0.3240740740740741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33CC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962962962962962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0F0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40740740740740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C00000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0.3518518518518518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2.7777777777777267E-3"/>
              <c:y val="-0.3240740740740741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33CC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962962962962962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00B0F0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40740740740740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C00000"/>
          </a:solidFill>
          <a:ln>
            <a:noFill/>
          </a:ln>
          <a:effectLst/>
        </c:spPr>
        <c:dLbl>
          <c:idx val="0"/>
          <c:layout>
            <c:manualLayout>
              <c:x val="-2.5462668816039986E-17"/>
              <c:y val="-0.3518518518518518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2.7777777777777267E-3"/>
              <c:y val="-0.3240740740740741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33CC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962962962962962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00B0F0"/>
          </a:solidFill>
          <a:ln>
            <a:noFill/>
          </a:ln>
          <a:effectLst/>
        </c:spPr>
        <c:dLbl>
          <c:idx val="0"/>
          <c:layout>
            <c:manualLayout>
              <c:x val="-1.0185067526415994E-16"/>
              <c:y val="-0.2407407407407407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966447944007"/>
          <c:y val="0.12078703703703704"/>
          <c:w val="0.82533552055992998"/>
          <c:h val="0.6971606153397491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'Task 3.2'!$M$3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8F0-48E8-9794-1A9063B912DC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8F0-48E8-9794-1A9063B912DC}"/>
              </c:ext>
            </c:extLst>
          </c:dPt>
          <c:dPt>
            <c:idx val="2"/>
            <c:invertIfNegative val="0"/>
            <c:bubble3D val="0"/>
            <c:spPr>
              <a:solidFill>
                <a:srgbClr val="FF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8F0-48E8-9794-1A9063B912DC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8F0-48E8-9794-1A9063B912DC}"/>
              </c:ext>
            </c:extLst>
          </c:dPt>
          <c:dLbls>
            <c:dLbl>
              <c:idx val="0"/>
              <c:layout>
                <c:manualLayout>
                  <c:x val="-2.5462668816039986E-17"/>
                  <c:y val="-0.351851851851851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F0-48E8-9794-1A9063B912DC}"/>
                </c:ext>
              </c:extLst>
            </c:dLbl>
            <c:dLbl>
              <c:idx val="1"/>
              <c:layout>
                <c:manualLayout>
                  <c:x val="2.7777777777777267E-3"/>
                  <c:y val="-0.3240740740740741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8F0-48E8-9794-1A9063B912DC}"/>
                </c:ext>
              </c:extLst>
            </c:dLbl>
            <c:dLbl>
              <c:idx val="2"/>
              <c:layout>
                <c:manualLayout>
                  <c:x val="-1.0185067526415994E-16"/>
                  <c:y val="-0.2962962962962962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8F0-48E8-9794-1A9063B912DC}"/>
                </c:ext>
              </c:extLst>
            </c:dLbl>
            <c:dLbl>
              <c:idx val="3"/>
              <c:layout>
                <c:manualLayout>
                  <c:x val="-1.0185067526415994E-16"/>
                  <c:y val="-0.2407407407407407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8F0-48E8-9794-1A9063B912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3.2'!$L$4:$L$8</c:f>
              <c:strCache>
                <c:ptCount val="4"/>
                <c:pt idx="0">
                  <c:v>YouTube</c:v>
                </c:pt>
                <c:pt idx="1">
                  <c:v>Twitter</c:v>
                </c:pt>
                <c:pt idx="2">
                  <c:v>Instagram</c:v>
                </c:pt>
                <c:pt idx="3">
                  <c:v>LinkedIn</c:v>
                </c:pt>
              </c:strCache>
            </c:strRef>
          </c:cat>
          <c:val>
            <c:numRef>
              <c:f>'Task 3.2'!$M$4:$M$8</c:f>
              <c:numCache>
                <c:formatCode>0.00%</c:formatCode>
                <c:ptCount val="4"/>
                <c:pt idx="0">
                  <c:v>1.4194033565547484E-2</c:v>
                </c:pt>
                <c:pt idx="1">
                  <c:v>1.3764361711969261E-2</c:v>
                </c:pt>
                <c:pt idx="2">
                  <c:v>1.2030686217981614E-2</c:v>
                </c:pt>
                <c:pt idx="3">
                  <c:v>9.4286447506565681E-3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F0-48E8-9794-1A9063B912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5547791"/>
        <c:axId val="1775530031"/>
      </c:barChart>
      <c:catAx>
        <c:axId val="17755477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Platform</a:t>
                </a:r>
              </a:p>
            </c:rich>
          </c:tx>
          <c:layout>
            <c:manualLayout>
              <c:xMode val="edge"/>
              <c:yMode val="edge"/>
              <c:x val="0.44938779527559053"/>
              <c:y val="0.92960629921259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530031"/>
        <c:crosses val="autoZero"/>
        <c:auto val="1"/>
        <c:lblAlgn val="ctr"/>
        <c:lblOffset val="100"/>
        <c:noMultiLvlLbl val="0"/>
      </c:catAx>
      <c:valAx>
        <c:axId val="17755300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AVg</a:t>
                </a:r>
                <a:r>
                  <a:rPr lang="en-IN" b="1" baseline="0">
                    <a:solidFill>
                      <a:schemeClr val="tx1"/>
                    </a:solidFill>
                  </a:rPr>
                  <a:t> Follower Growth Rate</a:t>
                </a:r>
                <a:endParaRPr lang="en-IN" b="1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"/>
              <c:y val="0.232191236512102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5547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523947844934014"/>
          <c:y val="0.20875000000000005"/>
          <c:w val="0.82984951881014868"/>
          <c:h val="0.650864319043452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3.3'!$V$1</c:f>
              <c:strCache>
                <c:ptCount val="1"/>
                <c:pt idx="0">
                  <c:v>Ad Spend per Engagment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87-4EB0-98C1-77C1CA42A22C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87-4EB0-98C1-77C1CA42A22C}"/>
              </c:ext>
            </c:extLst>
          </c:dPt>
          <c:dPt>
            <c:idx val="2"/>
            <c:invertIfNegative val="0"/>
            <c:bubble3D val="0"/>
            <c:spPr>
              <a:solidFill>
                <a:srgbClr val="FF33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187-4EB0-98C1-77C1CA42A22C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187-4EB0-98C1-77C1CA42A2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3.3'!$U$2:$U$5</c:f>
              <c:strCache>
                <c:ptCount val="4"/>
                <c:pt idx="0">
                  <c:v>YouTube</c:v>
                </c:pt>
                <c:pt idx="1">
                  <c:v>Twitter</c:v>
                </c:pt>
                <c:pt idx="2">
                  <c:v>Instagram</c:v>
                </c:pt>
                <c:pt idx="3">
                  <c:v>LinkedIn</c:v>
                </c:pt>
              </c:strCache>
            </c:strRef>
          </c:cat>
          <c:val>
            <c:numRef>
              <c:f>'Task 3.3'!$V$2:$V$5</c:f>
              <c:numCache>
                <c:formatCode>0</c:formatCode>
                <c:ptCount val="4"/>
                <c:pt idx="0">
                  <c:v>1782.7395722204551</c:v>
                </c:pt>
                <c:pt idx="1">
                  <c:v>2022.8271540461819</c:v>
                </c:pt>
                <c:pt idx="2">
                  <c:v>2237.9704516249476</c:v>
                </c:pt>
                <c:pt idx="3">
                  <c:v>2572.5996291118931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87-4EB0-98C1-77C1CA42A2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9111007"/>
        <c:axId val="909117247"/>
      </c:barChart>
      <c:catAx>
        <c:axId val="9091110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Platform</a:t>
                </a:r>
              </a:p>
            </c:rich>
          </c:tx>
          <c:layout>
            <c:manualLayout>
              <c:xMode val="edge"/>
              <c:yMode val="edge"/>
              <c:x val="0.45129746281714789"/>
              <c:y val="0.92960629921259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117247"/>
        <c:crosses val="autoZero"/>
        <c:auto val="1"/>
        <c:lblAlgn val="ctr"/>
        <c:lblOffset val="100"/>
        <c:noMultiLvlLbl val="0"/>
      </c:catAx>
      <c:valAx>
        <c:axId val="90911724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Ad Spend</a:t>
                </a:r>
              </a:p>
            </c:rich>
          </c:tx>
          <c:layout>
            <c:manualLayout>
              <c:xMode val="edge"/>
              <c:yMode val="edge"/>
              <c:x val="2.7777777777777779E-3"/>
              <c:y val="0.395883639545056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111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3).xlsx]Task 3.1!PivotTable39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Platform with highest Engagement &amp; Objective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3.1'!$R$10:$R$12</c:f>
              <c:strCache>
                <c:ptCount val="1"/>
                <c:pt idx="0">
                  <c:v>Brand Engagement - Apple Event September 2025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3.1'!$Q$13:$Q$17</c:f>
              <c:strCache>
                <c:ptCount val="4"/>
                <c:pt idx="0">
                  <c:v>Instagram</c:v>
                </c:pt>
                <c:pt idx="1">
                  <c:v>LinkedIn</c:v>
                </c:pt>
                <c:pt idx="2">
                  <c:v>Twitter</c:v>
                </c:pt>
                <c:pt idx="3">
                  <c:v>YouTube</c:v>
                </c:pt>
              </c:strCache>
            </c:strRef>
          </c:cat>
          <c:val>
            <c:numRef>
              <c:f>'Task 3.1'!$R$13:$R$17</c:f>
              <c:numCache>
                <c:formatCode>0.00%</c:formatCode>
                <c:ptCount val="4"/>
                <c:pt idx="0">
                  <c:v>0.13193785434850411</c:v>
                </c:pt>
                <c:pt idx="1">
                  <c:v>0.11210848008990094</c:v>
                </c:pt>
                <c:pt idx="2">
                  <c:v>0.14856462389631164</c:v>
                </c:pt>
                <c:pt idx="3">
                  <c:v>0.10380076283527792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E-47EE-9EFE-AA0300998E31}"/>
            </c:ext>
          </c:extLst>
        </c:ser>
        <c:ser>
          <c:idx val="1"/>
          <c:order val="1"/>
          <c:tx>
            <c:strRef>
              <c:f>'Task 3.1'!$T$10:$T$12</c:f>
              <c:strCache>
                <c:ptCount val="1"/>
                <c:pt idx="0">
                  <c:v>Health &amp; Fitness Awareness - Apple Watch Ultra 2 Launch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3.1'!$Q$13:$Q$17</c:f>
              <c:strCache>
                <c:ptCount val="4"/>
                <c:pt idx="0">
                  <c:v>Instagram</c:v>
                </c:pt>
                <c:pt idx="1">
                  <c:v>LinkedIn</c:v>
                </c:pt>
                <c:pt idx="2">
                  <c:v>Twitter</c:v>
                </c:pt>
                <c:pt idx="3">
                  <c:v>YouTube</c:v>
                </c:pt>
              </c:strCache>
            </c:strRef>
          </c:cat>
          <c:val>
            <c:numRef>
              <c:f>'Task 3.1'!$T$13:$T$17</c:f>
              <c:numCache>
                <c:formatCode>0.00%</c:formatCode>
                <c:ptCount val="4"/>
                <c:pt idx="0">
                  <c:v>0.13679934102902538</c:v>
                </c:pt>
                <c:pt idx="1">
                  <c:v>0.14411910434722347</c:v>
                </c:pt>
                <c:pt idx="2">
                  <c:v>0.14307309794424525</c:v>
                </c:pt>
                <c:pt idx="3">
                  <c:v>0.11973747697801151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0E-47EE-9EFE-AA0300998E31}"/>
            </c:ext>
          </c:extLst>
        </c:ser>
        <c:ser>
          <c:idx val="2"/>
          <c:order val="2"/>
          <c:tx>
            <c:strRef>
              <c:f>'Task 3.1'!$V$10:$V$12</c:f>
              <c:strCache>
                <c:ptCount val="1"/>
                <c:pt idx="0">
                  <c:v>Product Launch - iPhone 16 Launch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3.1'!$Q$13:$Q$17</c:f>
              <c:strCache>
                <c:ptCount val="4"/>
                <c:pt idx="0">
                  <c:v>Instagram</c:v>
                </c:pt>
                <c:pt idx="1">
                  <c:v>LinkedIn</c:v>
                </c:pt>
                <c:pt idx="2">
                  <c:v>Twitter</c:v>
                </c:pt>
                <c:pt idx="3">
                  <c:v>YouTube</c:v>
                </c:pt>
              </c:strCache>
            </c:strRef>
          </c:cat>
          <c:val>
            <c:numRef>
              <c:f>'Task 3.1'!$V$13:$V$17</c:f>
              <c:numCache>
                <c:formatCode>0.00%</c:formatCode>
                <c:ptCount val="4"/>
                <c:pt idx="0">
                  <c:v>9.6402731063359948E-2</c:v>
                </c:pt>
                <c:pt idx="1">
                  <c:v>0.12843164970490334</c:v>
                </c:pt>
                <c:pt idx="2">
                  <c:v>0.13526760440979543</c:v>
                </c:pt>
                <c:pt idx="3">
                  <c:v>0.11995588178006254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0E-47EE-9EFE-AA0300998E31}"/>
            </c:ext>
          </c:extLst>
        </c:ser>
        <c:ser>
          <c:idx val="3"/>
          <c:order val="3"/>
          <c:tx>
            <c:strRef>
              <c:f>'Task 3.1'!$X$10:$X$12</c:f>
              <c:strCache>
                <c:ptCount val="1"/>
                <c:pt idx="0">
                  <c:v>Product Promotion - MacBook Air M3 Campaign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3.1'!$Q$13:$Q$17</c:f>
              <c:strCache>
                <c:ptCount val="4"/>
                <c:pt idx="0">
                  <c:v>Instagram</c:v>
                </c:pt>
                <c:pt idx="1">
                  <c:v>LinkedIn</c:v>
                </c:pt>
                <c:pt idx="2">
                  <c:v>Twitter</c:v>
                </c:pt>
                <c:pt idx="3">
                  <c:v>YouTube</c:v>
                </c:pt>
              </c:strCache>
            </c:strRef>
          </c:cat>
          <c:val>
            <c:numRef>
              <c:f>'Task 3.1'!$X$13:$X$17</c:f>
              <c:numCache>
                <c:formatCode>0.00%</c:formatCode>
                <c:ptCount val="4"/>
                <c:pt idx="0">
                  <c:v>9.5602169814834631E-2</c:v>
                </c:pt>
                <c:pt idx="1">
                  <c:v>0.12478605127228276</c:v>
                </c:pt>
                <c:pt idx="2">
                  <c:v>0.14429364934468705</c:v>
                </c:pt>
                <c:pt idx="3">
                  <c:v>0.1155935295499342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40E-47EE-9EFE-AA0300998E31}"/>
            </c:ext>
          </c:extLst>
        </c:ser>
        <c:ser>
          <c:idx val="4"/>
          <c:order val="4"/>
          <c:tx>
            <c:strRef>
              <c:f>'Task 3.1'!$Z$10:$Z$12</c:f>
              <c:strCache>
                <c:ptCount val="1"/>
                <c:pt idx="0">
                  <c:v>Sustainability Branding - Sustainability Awareness Drive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3.1'!$Q$13:$Q$17</c:f>
              <c:strCache>
                <c:ptCount val="4"/>
                <c:pt idx="0">
                  <c:v>Instagram</c:v>
                </c:pt>
                <c:pt idx="1">
                  <c:v>LinkedIn</c:v>
                </c:pt>
                <c:pt idx="2">
                  <c:v>Twitter</c:v>
                </c:pt>
                <c:pt idx="3">
                  <c:v>YouTube</c:v>
                </c:pt>
              </c:strCache>
            </c:strRef>
          </c:cat>
          <c:val>
            <c:numRef>
              <c:f>'Task 3.1'!$Z$13:$Z$17</c:f>
              <c:numCache>
                <c:formatCode>0.00%</c:formatCode>
                <c:ptCount val="4"/>
                <c:pt idx="0">
                  <c:v>0.11414924007707976</c:v>
                </c:pt>
                <c:pt idx="1">
                  <c:v>0.10208449749241441</c:v>
                </c:pt>
                <c:pt idx="2">
                  <c:v>0.1271869444053508</c:v>
                </c:pt>
                <c:pt idx="3">
                  <c:v>0.10497763485843795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0E-47EE-9EFE-AA0300998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908944927"/>
        <c:axId val="908961727"/>
      </c:barChart>
      <c:catAx>
        <c:axId val="9089449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Platform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961727"/>
        <c:crosses val="autoZero"/>
        <c:auto val="1"/>
        <c:lblAlgn val="ctr"/>
        <c:lblOffset val="100"/>
        <c:noMultiLvlLbl val="0"/>
      </c:catAx>
      <c:valAx>
        <c:axId val="908961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 Engagement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94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4).xlsx]Task 4.2!PivotTable21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No. of Hashtags with Avg Engagement Rate</a:t>
            </a:r>
          </a:p>
        </c:rich>
      </c:tx>
      <c:layout>
        <c:manualLayout>
          <c:xMode val="edge"/>
          <c:yMode val="edge"/>
          <c:x val="0.37841906686006355"/>
          <c:y val="2.8782894736842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113161831594959"/>
          <c:y val="0.13930555555555557"/>
          <c:w val="0.80115715237487084"/>
          <c:h val="0.361732648002333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4.2'!$C$2</c:f>
              <c:strCache>
                <c:ptCount val="1"/>
                <c:pt idx="0">
                  <c:v>Average of Engagement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'Task 4.2'!$B$3:$B$15</c:f>
              <c:strCache>
                <c:ptCount val="12"/>
                <c:pt idx="0">
                  <c:v>#ShotOniPhone</c:v>
                </c:pt>
                <c:pt idx="1">
                  <c:v>#AppleWatchUltra2,#HealthTech</c:v>
                </c:pt>
                <c:pt idx="2">
                  <c:v>#AppleMusic,#AppleLifestyle</c:v>
                </c:pt>
                <c:pt idx="3">
                  <c:v>#AppleEvent,#iPhone16</c:v>
                </c:pt>
                <c:pt idx="4">
                  <c:v>#iPhonePhotography,#ShotOniPhone</c:v>
                </c:pt>
                <c:pt idx="5">
                  <c:v>#Sustainability,#AppleEarth</c:v>
                </c:pt>
                <c:pt idx="6">
                  <c:v>#MacBookAirM3,#AppleInnovation</c:v>
                </c:pt>
                <c:pt idx="7">
                  <c:v>#iPhone16Launch,#AppleEvent</c:v>
                </c:pt>
                <c:pt idx="8">
                  <c:v>#AppleWatch,#Health</c:v>
                </c:pt>
                <c:pt idx="9">
                  <c:v>#AppleEvent,#iPadPro</c:v>
                </c:pt>
                <c:pt idx="10">
                  <c:v>#AppleDesign,#Innovation</c:v>
                </c:pt>
                <c:pt idx="11">
                  <c:v>#MacBookProM3</c:v>
                </c:pt>
              </c:strCache>
            </c:strRef>
          </c:cat>
          <c:val>
            <c:numRef>
              <c:f>'Task 4.2'!$C$3:$C$15</c:f>
              <c:numCache>
                <c:formatCode>0.00%</c:formatCode>
                <c:ptCount val="12"/>
                <c:pt idx="0">
                  <c:v>0.15329917321810049</c:v>
                </c:pt>
                <c:pt idx="1">
                  <c:v>0.14380411271271723</c:v>
                </c:pt>
                <c:pt idx="2">
                  <c:v>0.13494947381413464</c:v>
                </c:pt>
                <c:pt idx="3">
                  <c:v>0.12600406732043223</c:v>
                </c:pt>
                <c:pt idx="4">
                  <c:v>0.12026676773989799</c:v>
                </c:pt>
                <c:pt idx="5">
                  <c:v>0.12019462245795262</c:v>
                </c:pt>
                <c:pt idx="6">
                  <c:v>0.11789410371289015</c:v>
                </c:pt>
                <c:pt idx="7">
                  <c:v>0.11456579865607178</c:v>
                </c:pt>
                <c:pt idx="8">
                  <c:v>0.1139972167692839</c:v>
                </c:pt>
                <c:pt idx="9">
                  <c:v>0.11195695112108227</c:v>
                </c:pt>
                <c:pt idx="10">
                  <c:v>0.11135741315150899</c:v>
                </c:pt>
                <c:pt idx="11">
                  <c:v>0.10955527128571874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A-4AA5-80FD-E467BF29C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7811216"/>
        <c:axId val="427827536"/>
      </c:barChart>
      <c:lineChart>
        <c:grouping val="standard"/>
        <c:varyColors val="0"/>
        <c:ser>
          <c:idx val="1"/>
          <c:order val="1"/>
          <c:tx>
            <c:strRef>
              <c:f>'Task 4.2'!$D$2</c:f>
              <c:strCache>
                <c:ptCount val="1"/>
                <c:pt idx="0">
                  <c:v>Count of PostID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'Task 4.2'!$B$3:$B$15</c:f>
              <c:strCache>
                <c:ptCount val="12"/>
                <c:pt idx="0">
                  <c:v>#ShotOniPhone</c:v>
                </c:pt>
                <c:pt idx="1">
                  <c:v>#AppleWatchUltra2,#HealthTech</c:v>
                </c:pt>
                <c:pt idx="2">
                  <c:v>#AppleMusic,#AppleLifestyle</c:v>
                </c:pt>
                <c:pt idx="3">
                  <c:v>#AppleEvent,#iPhone16</c:v>
                </c:pt>
                <c:pt idx="4">
                  <c:v>#iPhonePhotography,#ShotOniPhone</c:v>
                </c:pt>
                <c:pt idx="5">
                  <c:v>#Sustainability,#AppleEarth</c:v>
                </c:pt>
                <c:pt idx="6">
                  <c:v>#MacBookAirM3,#AppleInnovation</c:v>
                </c:pt>
                <c:pt idx="7">
                  <c:v>#iPhone16Launch,#AppleEvent</c:v>
                </c:pt>
                <c:pt idx="8">
                  <c:v>#AppleWatch,#Health</c:v>
                </c:pt>
                <c:pt idx="9">
                  <c:v>#AppleEvent,#iPadPro</c:v>
                </c:pt>
                <c:pt idx="10">
                  <c:v>#AppleDesign,#Innovation</c:v>
                </c:pt>
                <c:pt idx="11">
                  <c:v>#MacBookProM3</c:v>
                </c:pt>
              </c:strCache>
            </c:strRef>
          </c:cat>
          <c:val>
            <c:numRef>
              <c:f>'Task 4.2'!$D$3:$D$15</c:f>
              <c:numCache>
                <c:formatCode>General</c:formatCode>
                <c:ptCount val="12"/>
                <c:pt idx="0">
                  <c:v>16</c:v>
                </c:pt>
                <c:pt idx="1">
                  <c:v>25</c:v>
                </c:pt>
                <c:pt idx="2">
                  <c:v>34</c:v>
                </c:pt>
                <c:pt idx="3">
                  <c:v>32</c:v>
                </c:pt>
                <c:pt idx="4">
                  <c:v>25</c:v>
                </c:pt>
                <c:pt idx="5">
                  <c:v>13</c:v>
                </c:pt>
                <c:pt idx="6">
                  <c:v>28</c:v>
                </c:pt>
                <c:pt idx="7">
                  <c:v>29</c:v>
                </c:pt>
                <c:pt idx="8">
                  <c:v>37</c:v>
                </c:pt>
                <c:pt idx="9">
                  <c:v>19</c:v>
                </c:pt>
                <c:pt idx="10">
                  <c:v>25</c:v>
                </c:pt>
                <c:pt idx="11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2A-4AA5-80FD-E467BF29C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7820816"/>
        <c:axId val="427811696"/>
      </c:lineChart>
      <c:catAx>
        <c:axId val="4278112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>
                    <a:solidFill>
                      <a:schemeClr val="tx1"/>
                    </a:solidFill>
                  </a:rPr>
                  <a:t>Hashtags</a:t>
                </a:r>
              </a:p>
            </c:rich>
          </c:tx>
          <c:layout>
            <c:manualLayout>
              <c:xMode val="edge"/>
              <c:yMode val="edge"/>
              <c:x val="0.44659033245844282"/>
              <c:y val="0.92960629921259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827536"/>
        <c:crosses val="autoZero"/>
        <c:auto val="1"/>
        <c:lblAlgn val="ctr"/>
        <c:lblOffset val="100"/>
        <c:noMultiLvlLbl val="0"/>
      </c:catAx>
      <c:valAx>
        <c:axId val="42782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>
                    <a:solidFill>
                      <a:schemeClr val="tx1"/>
                    </a:solidFill>
                  </a:rPr>
                  <a:t>Avg Engagement Rate</a:t>
                </a:r>
              </a:p>
            </c:rich>
          </c:tx>
          <c:layout>
            <c:manualLayout>
              <c:xMode val="edge"/>
              <c:yMode val="edge"/>
              <c:x val="2.7777777777777779E-3"/>
              <c:y val="0.17171296296296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811216"/>
        <c:crosses val="autoZero"/>
        <c:crossBetween val="between"/>
      </c:valAx>
      <c:valAx>
        <c:axId val="42781169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b="1">
                    <a:solidFill>
                      <a:schemeClr val="tx1"/>
                    </a:solidFill>
                  </a:rPr>
                  <a:t>No. of Hashtag</a:t>
                </a:r>
              </a:p>
            </c:rich>
          </c:tx>
          <c:layout>
            <c:manualLayout>
              <c:xMode val="edge"/>
              <c:yMode val="edge"/>
              <c:x val="0.95776377952755909"/>
              <c:y val="0.2014796587926509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820816"/>
        <c:crosses val="max"/>
        <c:crossBetween val="between"/>
      </c:valAx>
      <c:catAx>
        <c:axId val="4278208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27811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>
        <a:defRPr lang="en-US" sz="900" b="0" i="0" u="none" strike="noStrike" kern="1200" baseline="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4).xlsx]Task 4.3!PivotTable41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Content Performance with Objectives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4.3'!$Q$4:$Q$6</c:f>
              <c:strCache>
                <c:ptCount val="1"/>
                <c:pt idx="0">
                  <c:v>Brand Engagement - Apple Event September 2025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4.3'!$P$7:$P$11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4.3'!$Q$7:$Q$11</c:f>
              <c:numCache>
                <c:formatCode>0.00%</c:formatCode>
                <c:ptCount val="4"/>
                <c:pt idx="0">
                  <c:v>0.13265746075375409</c:v>
                </c:pt>
                <c:pt idx="1">
                  <c:v>0.10659327639400708</c:v>
                </c:pt>
                <c:pt idx="2">
                  <c:v>0.12992579625319517</c:v>
                </c:pt>
                <c:pt idx="3">
                  <c:v>0.11931131158689609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6F-48B9-8529-4AFC31B26647}"/>
            </c:ext>
          </c:extLst>
        </c:ser>
        <c:ser>
          <c:idx val="1"/>
          <c:order val="1"/>
          <c:tx>
            <c:strRef>
              <c:f>'Task 4.3'!$S$4:$S$6</c:f>
              <c:strCache>
                <c:ptCount val="1"/>
                <c:pt idx="0">
                  <c:v>Health &amp; Fitness Awareness - Apple Watch Ultra 2 Launch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4.3'!$P$7:$P$11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4.3'!$S$7:$S$11</c:f>
              <c:numCache>
                <c:formatCode>0.00%</c:formatCode>
                <c:ptCount val="4"/>
                <c:pt idx="0">
                  <c:v>0.16660506344475509</c:v>
                </c:pt>
                <c:pt idx="1">
                  <c:v>0.14428992227806073</c:v>
                </c:pt>
                <c:pt idx="2">
                  <c:v>0.1127093652109713</c:v>
                </c:pt>
                <c:pt idx="3">
                  <c:v>0.11999680434512278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6F-48B9-8529-4AFC31B26647}"/>
            </c:ext>
          </c:extLst>
        </c:ser>
        <c:ser>
          <c:idx val="2"/>
          <c:order val="2"/>
          <c:tx>
            <c:strRef>
              <c:f>'Task 4.3'!$U$4:$U$6</c:f>
              <c:strCache>
                <c:ptCount val="1"/>
                <c:pt idx="0">
                  <c:v>Product Launch - iPhone 16 Launch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4.3'!$P$7:$P$11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4.3'!$U$7:$U$11</c:f>
              <c:numCache>
                <c:formatCode>0.00%</c:formatCode>
                <c:ptCount val="4"/>
                <c:pt idx="0">
                  <c:v>0.12164065514548929</c:v>
                </c:pt>
                <c:pt idx="1">
                  <c:v>0.13296104488582355</c:v>
                </c:pt>
                <c:pt idx="2">
                  <c:v>0.11354346102951857</c:v>
                </c:pt>
                <c:pt idx="3">
                  <c:v>0.11429577583963654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6F-48B9-8529-4AFC31B26647}"/>
            </c:ext>
          </c:extLst>
        </c:ser>
        <c:ser>
          <c:idx val="3"/>
          <c:order val="3"/>
          <c:tx>
            <c:strRef>
              <c:f>'Task 4.3'!$W$4:$W$6</c:f>
              <c:strCache>
                <c:ptCount val="1"/>
                <c:pt idx="0">
                  <c:v>Product Promotion - MacBook Air M3 Campaign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4.3'!$P$7:$P$11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4.3'!$W$7:$W$11</c:f>
              <c:numCache>
                <c:formatCode>0.00%</c:formatCode>
                <c:ptCount val="4"/>
                <c:pt idx="0">
                  <c:v>9.8301267038284637E-2</c:v>
                </c:pt>
                <c:pt idx="1">
                  <c:v>0.13817871983039098</c:v>
                </c:pt>
                <c:pt idx="2">
                  <c:v>0.11576724554035413</c:v>
                </c:pt>
                <c:pt idx="3">
                  <c:v>0.10776982470982252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6F-48B9-8529-4AFC31B26647}"/>
            </c:ext>
          </c:extLst>
        </c:ser>
        <c:ser>
          <c:idx val="4"/>
          <c:order val="4"/>
          <c:tx>
            <c:strRef>
              <c:f>'Task 4.3'!$Y$4:$Y$6</c:f>
              <c:strCache>
                <c:ptCount val="1"/>
                <c:pt idx="0">
                  <c:v>Sustainability Branding - Sustainability Awareness Drive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'Task 4.3'!$P$7:$P$11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4.3'!$Y$7:$Y$11</c:f>
              <c:numCache>
                <c:formatCode>0.00%</c:formatCode>
                <c:ptCount val="4"/>
                <c:pt idx="0">
                  <c:v>0.14671342174495206</c:v>
                </c:pt>
                <c:pt idx="1">
                  <c:v>8.7845983027894647E-2</c:v>
                </c:pt>
                <c:pt idx="2">
                  <c:v>9.9531954591638577E-2</c:v>
                </c:pt>
                <c:pt idx="3">
                  <c:v>0.10373784206241918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F6F-48B9-8529-4AFC31B266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05457296"/>
        <c:axId val="1405446736"/>
      </c:barChart>
      <c:catAx>
        <c:axId val="1405457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Content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446736"/>
        <c:crosses val="autoZero"/>
        <c:auto val="1"/>
        <c:lblAlgn val="ctr"/>
        <c:lblOffset val="100"/>
        <c:noMultiLvlLbl val="0"/>
      </c:catAx>
      <c:valAx>
        <c:axId val="140544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 Engagement 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45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4).xlsx]Task 4.4!PivotTable24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ysClr val="windowText" lastClr="000000"/>
                </a:solidFill>
              </a:rPr>
              <a:t>Content</a:t>
            </a:r>
            <a:r>
              <a:rPr lang="en-IN" b="1" baseline="0">
                <a:solidFill>
                  <a:sysClr val="windowText" lastClr="000000"/>
                </a:solidFill>
              </a:rPr>
              <a:t> vs Platform</a:t>
            </a:r>
            <a:endParaRPr lang="en-IN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rgbClr val="CC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CC3399"/>
          </a:solidFill>
          <a:ln>
            <a:noFill/>
          </a:ln>
          <a:effectLst/>
        </c:spPr>
      </c:pivotFmt>
      <c:pivotFmt>
        <c:idx val="5"/>
        <c:spPr>
          <a:solidFill>
            <a:srgbClr val="CC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CC3399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399781277340333"/>
          <c:y val="0.17171296296296296"/>
          <c:w val="0.83227515310586175"/>
          <c:h val="0.683271726450860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4.4'!$C$14:$C$15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CC3399"/>
            </a:solidFill>
            <a:ln>
              <a:noFill/>
            </a:ln>
            <a:effectLst/>
          </c:spPr>
          <c:invertIfNegative val="0"/>
          <c:cat>
            <c:strRef>
              <c:f>'Task 4.4'!$B$16:$B$20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4.4'!$C$16:$C$20</c:f>
              <c:numCache>
                <c:formatCode>0.00%</c:formatCode>
                <c:ptCount val="4"/>
                <c:pt idx="0">
                  <c:v>0.13793089888284421</c:v>
                </c:pt>
                <c:pt idx="1">
                  <c:v>0.12626867837762662</c:v>
                </c:pt>
                <c:pt idx="2">
                  <c:v>9.2172752818428572E-2</c:v>
                </c:pt>
                <c:pt idx="3">
                  <c:v>0.11659260556854061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9F-4E50-93F5-DC468A679E70}"/>
            </c:ext>
          </c:extLst>
        </c:ser>
        <c:ser>
          <c:idx val="1"/>
          <c:order val="1"/>
          <c:tx>
            <c:strRef>
              <c:f>'Task 4.4'!$D$14:$D$15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'Task 4.4'!$B$16:$B$20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4.4'!$D$16:$D$20</c:f>
              <c:numCache>
                <c:formatCode>0.00%</c:formatCode>
                <c:ptCount val="4"/>
                <c:pt idx="0">
                  <c:v>0.15713453663338475</c:v>
                </c:pt>
                <c:pt idx="1">
                  <c:v>0.10838774896938715</c:v>
                </c:pt>
                <c:pt idx="2">
                  <c:v>0.1209682007052985</c:v>
                </c:pt>
                <c:pt idx="3">
                  <c:v>0.1134590256697795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9F-4E50-93F5-DC468A679E70}"/>
            </c:ext>
          </c:extLst>
        </c:ser>
        <c:ser>
          <c:idx val="2"/>
          <c:order val="2"/>
          <c:tx>
            <c:strRef>
              <c:f>'Task 4.4'!$E$14:$E$15</c:f>
              <c:strCache>
                <c:ptCount val="1"/>
                <c:pt idx="0">
                  <c:v>Twitter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cat>
            <c:strRef>
              <c:f>'Task 4.4'!$B$16:$B$20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4.4'!$E$16:$E$20</c:f>
              <c:numCache>
                <c:formatCode>0.00%</c:formatCode>
                <c:ptCount val="4"/>
                <c:pt idx="0">
                  <c:v>0.13691273815057553</c:v>
                </c:pt>
                <c:pt idx="1">
                  <c:v>0.14091680204500326</c:v>
                </c:pt>
                <c:pt idx="2">
                  <c:v>0.17975388136910841</c:v>
                </c:pt>
                <c:pt idx="3">
                  <c:v>0.11713180549394088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9F-4E50-93F5-DC468A679E70}"/>
            </c:ext>
          </c:extLst>
        </c:ser>
        <c:ser>
          <c:idx val="3"/>
          <c:order val="3"/>
          <c:tx>
            <c:strRef>
              <c:f>'Task 4.4'!$F$14:$F$15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'Task 4.4'!$B$16:$B$20</c:f>
              <c:strCache>
                <c:ptCount val="4"/>
                <c:pt idx="0">
                  <c:v>Video</c:v>
                </c:pt>
                <c:pt idx="1">
                  <c:v>Carousel</c:v>
                </c:pt>
                <c:pt idx="2">
                  <c:v>Image</c:v>
                </c:pt>
                <c:pt idx="3">
                  <c:v>Tweet</c:v>
                </c:pt>
              </c:strCache>
            </c:strRef>
          </c:cat>
          <c:val>
            <c:numRef>
              <c:f>'Task 4.4'!$F$16:$F$20</c:f>
              <c:numCache>
                <c:formatCode>0.00%</c:formatCode>
                <c:ptCount val="4"/>
                <c:pt idx="0">
                  <c:v>0.12680050433792742</c:v>
                </c:pt>
                <c:pt idx="1">
                  <c:v>0.1110345003127851</c:v>
                </c:pt>
                <c:pt idx="2">
                  <c:v>9.9139643510424647E-2</c:v>
                </c:pt>
                <c:pt idx="3">
                  <c:v>0.10728025526664821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9F-4E50-93F5-DC468A679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7339407"/>
        <c:axId val="1227344207"/>
      </c:barChart>
      <c:catAx>
        <c:axId val="1227339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7344207"/>
        <c:crosses val="autoZero"/>
        <c:auto val="1"/>
        <c:lblAlgn val="ctr"/>
        <c:lblOffset val="100"/>
        <c:noMultiLvlLbl val="0"/>
      </c:catAx>
      <c:valAx>
        <c:axId val="12273442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Engagement</a:t>
                </a:r>
              </a:p>
            </c:rich>
          </c:tx>
          <c:layout>
            <c:manualLayout>
              <c:xMode val="edge"/>
              <c:yMode val="edge"/>
              <c:x val="2.7777777777777779E-3"/>
              <c:y val="0.354517716535433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7339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905074365704289"/>
          <c:y val="1.3644648585593468E-3"/>
          <c:w val="0.31094925634295706"/>
          <c:h val="0.145835520559930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4).xlsx]Task 4.4!PivotTable23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Platform</a:t>
            </a:r>
            <a:r>
              <a:rPr lang="en-IN" b="1" baseline="0">
                <a:solidFill>
                  <a:schemeClr val="tx1"/>
                </a:solidFill>
              </a:rPr>
              <a:t> vs Content</a:t>
            </a:r>
            <a:endParaRPr lang="en-IN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5266666666666663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22003499562553"/>
          <c:y val="0.15319444444444447"/>
          <c:w val="0.82260848643919515"/>
          <c:h val="0.697160615339749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4.4'!$C$6:$C$7</c:f>
              <c:strCache>
                <c:ptCount val="1"/>
                <c:pt idx="0">
                  <c:v>Carousel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'Task 4.4'!$B$8:$B$12</c:f>
              <c:strCache>
                <c:ptCount val="4"/>
                <c:pt idx="0">
                  <c:v>Twitter</c:v>
                </c:pt>
                <c:pt idx="1">
                  <c:v>LinkedIn</c:v>
                </c:pt>
                <c:pt idx="2">
                  <c:v>Instagram</c:v>
                </c:pt>
                <c:pt idx="3">
                  <c:v>YouTube</c:v>
                </c:pt>
              </c:strCache>
            </c:strRef>
          </c:cat>
          <c:val>
            <c:numRef>
              <c:f>'Task 4.4'!$C$8:$C$12</c:f>
              <c:numCache>
                <c:formatCode>0.00%</c:formatCode>
                <c:ptCount val="4"/>
                <c:pt idx="0">
                  <c:v>0.14091680204500326</c:v>
                </c:pt>
                <c:pt idx="1">
                  <c:v>0.10838774896938715</c:v>
                </c:pt>
                <c:pt idx="2">
                  <c:v>0.12626867837762662</c:v>
                </c:pt>
                <c:pt idx="3">
                  <c:v>0.1110345003127851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E-4F2B-9A86-B3319B8CA4FB}"/>
            </c:ext>
          </c:extLst>
        </c:ser>
        <c:ser>
          <c:idx val="1"/>
          <c:order val="1"/>
          <c:tx>
            <c:strRef>
              <c:f>'Task 4.4'!$D$6:$D$7</c:f>
              <c:strCache>
                <c:ptCount val="1"/>
                <c:pt idx="0">
                  <c:v>Image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'Task 4.4'!$B$8:$B$12</c:f>
              <c:strCache>
                <c:ptCount val="4"/>
                <c:pt idx="0">
                  <c:v>Twitter</c:v>
                </c:pt>
                <c:pt idx="1">
                  <c:v>LinkedIn</c:v>
                </c:pt>
                <c:pt idx="2">
                  <c:v>Instagram</c:v>
                </c:pt>
                <c:pt idx="3">
                  <c:v>YouTube</c:v>
                </c:pt>
              </c:strCache>
            </c:strRef>
          </c:cat>
          <c:val>
            <c:numRef>
              <c:f>'Task 4.4'!$D$8:$D$12</c:f>
              <c:numCache>
                <c:formatCode>0.00%</c:formatCode>
                <c:ptCount val="4"/>
                <c:pt idx="0">
                  <c:v>0.17975388136910841</c:v>
                </c:pt>
                <c:pt idx="1">
                  <c:v>0.1209682007052985</c:v>
                </c:pt>
                <c:pt idx="2">
                  <c:v>9.2172752818428572E-2</c:v>
                </c:pt>
                <c:pt idx="3">
                  <c:v>9.9139643510424647E-2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DE-4F2B-9A86-B3319B8CA4FB}"/>
            </c:ext>
          </c:extLst>
        </c:ser>
        <c:ser>
          <c:idx val="2"/>
          <c:order val="2"/>
          <c:tx>
            <c:strRef>
              <c:f>'Task 4.4'!$E$6:$E$7</c:f>
              <c:strCache>
                <c:ptCount val="1"/>
                <c:pt idx="0">
                  <c:v>Tweet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'Task 4.4'!$B$8:$B$12</c:f>
              <c:strCache>
                <c:ptCount val="4"/>
                <c:pt idx="0">
                  <c:v>Twitter</c:v>
                </c:pt>
                <c:pt idx="1">
                  <c:v>LinkedIn</c:v>
                </c:pt>
                <c:pt idx="2">
                  <c:v>Instagram</c:v>
                </c:pt>
                <c:pt idx="3">
                  <c:v>YouTube</c:v>
                </c:pt>
              </c:strCache>
            </c:strRef>
          </c:cat>
          <c:val>
            <c:numRef>
              <c:f>'Task 4.4'!$E$8:$E$12</c:f>
              <c:numCache>
                <c:formatCode>0.00%</c:formatCode>
                <c:ptCount val="4"/>
                <c:pt idx="0">
                  <c:v>0.11713180549394088</c:v>
                </c:pt>
                <c:pt idx="1">
                  <c:v>0.1134590256697795</c:v>
                </c:pt>
                <c:pt idx="2">
                  <c:v>0.11659260556854061</c:v>
                </c:pt>
                <c:pt idx="3">
                  <c:v>0.10728025526664821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DE-4F2B-9A86-B3319B8CA4FB}"/>
            </c:ext>
          </c:extLst>
        </c:ser>
        <c:ser>
          <c:idx val="3"/>
          <c:order val="3"/>
          <c:tx>
            <c:strRef>
              <c:f>'Task 4.4'!$F$6:$F$7</c:f>
              <c:strCache>
                <c:ptCount val="1"/>
                <c:pt idx="0">
                  <c:v>Video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'Task 4.4'!$B$8:$B$12</c:f>
              <c:strCache>
                <c:ptCount val="4"/>
                <c:pt idx="0">
                  <c:v>Twitter</c:v>
                </c:pt>
                <c:pt idx="1">
                  <c:v>LinkedIn</c:v>
                </c:pt>
                <c:pt idx="2">
                  <c:v>Instagram</c:v>
                </c:pt>
                <c:pt idx="3">
                  <c:v>YouTube</c:v>
                </c:pt>
              </c:strCache>
            </c:strRef>
          </c:cat>
          <c:val>
            <c:numRef>
              <c:f>'Task 4.4'!$F$8:$F$12</c:f>
              <c:numCache>
                <c:formatCode>0.00%</c:formatCode>
                <c:ptCount val="4"/>
                <c:pt idx="0">
                  <c:v>0.13691273815057553</c:v>
                </c:pt>
                <c:pt idx="1">
                  <c:v>0.15713453663338475</c:v>
                </c:pt>
                <c:pt idx="2">
                  <c:v>0.13793089888284421</c:v>
                </c:pt>
                <c:pt idx="3">
                  <c:v>0.12680050433792742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DE-4F2B-9A86-B3319B8CA4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4077503"/>
        <c:axId val="1234058303"/>
      </c:barChart>
      <c:catAx>
        <c:axId val="1234077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058303"/>
        <c:crosses val="autoZero"/>
        <c:auto val="1"/>
        <c:lblAlgn val="ctr"/>
        <c:lblOffset val="100"/>
        <c:noMultiLvlLbl val="0"/>
      </c:catAx>
      <c:valAx>
        <c:axId val="12340583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Engagement</a:t>
                </a:r>
              </a:p>
            </c:rich>
          </c:tx>
          <c:layout>
            <c:manualLayout>
              <c:xMode val="edge"/>
              <c:yMode val="edge"/>
              <c:x val="2.7777777777777779E-3"/>
              <c:y val="0.382295494313210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077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493963254593175"/>
          <c:y val="1.3644648585593444E-3"/>
          <c:w val="0.26506036745406825"/>
          <c:h val="0.155094779819189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Engagement</a:t>
            </a:r>
            <a:r>
              <a:rPr lang="en-IN" baseline="0" dirty="0"/>
              <a:t> Before vs After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5.1 (ii)'!$P$2</c:f>
              <c:strCache>
                <c:ptCount val="1"/>
                <c:pt idx="0">
                  <c:v>Engagement Before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5.1 (ii)'!$O$3:$O$6</c:f>
              <c:strCache>
                <c:ptCount val="4"/>
                <c:pt idx="0">
                  <c:v>iPhone 16 Launch</c:v>
                </c:pt>
                <c:pt idx="1">
                  <c:v>MacBook Air M3 Campaign</c:v>
                </c:pt>
                <c:pt idx="2">
                  <c:v>Apple Watch Ultra 2 Launch</c:v>
                </c:pt>
                <c:pt idx="3">
                  <c:v>Sustainability Awareness Drive</c:v>
                </c:pt>
              </c:strCache>
            </c:strRef>
          </c:cat>
          <c:val>
            <c:numRef>
              <c:f>'Task 5.1 (ii)'!$P$3:$P$6</c:f>
              <c:numCache>
                <c:formatCode>General</c:formatCode>
                <c:ptCount val="4"/>
                <c:pt idx="0">
                  <c:v>23693</c:v>
                </c:pt>
                <c:pt idx="1">
                  <c:v>17234</c:v>
                </c:pt>
                <c:pt idx="2">
                  <c:v>42509</c:v>
                </c:pt>
                <c:pt idx="3">
                  <c:v>79895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5-4F92-8630-FCA5C6D2371D}"/>
            </c:ext>
          </c:extLst>
        </c:ser>
        <c:ser>
          <c:idx val="1"/>
          <c:order val="1"/>
          <c:tx>
            <c:strRef>
              <c:f>'Task 5.1 (ii)'!$Q$2</c:f>
              <c:strCache>
                <c:ptCount val="1"/>
                <c:pt idx="0">
                  <c:v>Engagement During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5.1 (ii)'!$O$3:$O$6</c:f>
              <c:strCache>
                <c:ptCount val="4"/>
                <c:pt idx="0">
                  <c:v>iPhone 16 Launch</c:v>
                </c:pt>
                <c:pt idx="1">
                  <c:v>MacBook Air M3 Campaign</c:v>
                </c:pt>
                <c:pt idx="2">
                  <c:v>Apple Watch Ultra 2 Launch</c:v>
                </c:pt>
                <c:pt idx="3">
                  <c:v>Sustainability Awareness Drive</c:v>
                </c:pt>
              </c:strCache>
            </c:strRef>
          </c:cat>
          <c:val>
            <c:numRef>
              <c:f>'Task 5.1 (ii)'!$Q$3:$Q$6</c:f>
              <c:numCache>
                <c:formatCode>General</c:formatCode>
                <c:ptCount val="4"/>
                <c:pt idx="0">
                  <c:v>116764</c:v>
                </c:pt>
                <c:pt idx="1">
                  <c:v>74459</c:v>
                </c:pt>
                <c:pt idx="2">
                  <c:v>34600</c:v>
                </c:pt>
                <c:pt idx="3">
                  <c:v>52595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5-4F92-8630-FCA5C6D237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30425823"/>
        <c:axId val="630436863"/>
      </c:barChart>
      <c:catAx>
        <c:axId val="630425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436863"/>
        <c:crosses val="autoZero"/>
        <c:auto val="1"/>
        <c:lblAlgn val="ctr"/>
        <c:lblOffset val="100"/>
        <c:noMultiLvlLbl val="0"/>
      </c:catAx>
      <c:valAx>
        <c:axId val="630436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425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5.2 (i)'!$C$13</c:f>
              <c:strCache>
                <c:ptCount val="1"/>
                <c:pt idx="0">
                  <c:v>Engagement Per Dollar (ROI)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5.2 (i)'!$B$14:$B$18</c:f>
              <c:strCache>
                <c:ptCount val="5"/>
                <c:pt idx="0">
                  <c:v>Sustainability Awareness Drive</c:v>
                </c:pt>
                <c:pt idx="1">
                  <c:v>Apple Watch Ultra 2 Launch</c:v>
                </c:pt>
                <c:pt idx="2">
                  <c:v>Apple Event September 2025</c:v>
                </c:pt>
                <c:pt idx="3">
                  <c:v>iPhone 16 Launch</c:v>
                </c:pt>
                <c:pt idx="4">
                  <c:v>MacBook Air M3 Campaign</c:v>
                </c:pt>
              </c:strCache>
            </c:strRef>
          </c:cat>
          <c:val>
            <c:numRef>
              <c:f>'Task 5.2 (i)'!$C$14:$C$18</c:f>
              <c:numCache>
                <c:formatCode>0.00</c:formatCode>
                <c:ptCount val="5"/>
                <c:pt idx="0">
                  <c:v>21.997274999999998</c:v>
                </c:pt>
                <c:pt idx="1">
                  <c:v>18.026054545454546</c:v>
                </c:pt>
                <c:pt idx="2">
                  <c:v>14.01464</c:v>
                </c:pt>
                <c:pt idx="3">
                  <c:v>10.89955294117647</c:v>
                </c:pt>
                <c:pt idx="4">
                  <c:v>10.87055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0-4D82-BB7E-C664B1BAE7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3735984"/>
        <c:axId val="43734064"/>
      </c:barChart>
      <c:catAx>
        <c:axId val="43735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34064"/>
        <c:crosses val="autoZero"/>
        <c:auto val="1"/>
        <c:lblAlgn val="ctr"/>
        <c:lblOffset val="100"/>
        <c:noMultiLvlLbl val="0"/>
      </c:catAx>
      <c:valAx>
        <c:axId val="4373406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3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5.2 (ii)'!$C$12</c:f>
              <c:strCache>
                <c:ptCount val="1"/>
                <c:pt idx="0">
                  <c:v>Follower Gain During Campaign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5.2 (ii)'!$B$13:$B$17</c:f>
              <c:strCache>
                <c:ptCount val="5"/>
                <c:pt idx="0">
                  <c:v>Sustainability Awareness Drive</c:v>
                </c:pt>
                <c:pt idx="1">
                  <c:v>iPhone 16 Launch</c:v>
                </c:pt>
                <c:pt idx="2">
                  <c:v>MacBook Air M3 Campaign</c:v>
                </c:pt>
                <c:pt idx="3">
                  <c:v>Apple Watch Ultra 2 Launch</c:v>
                </c:pt>
                <c:pt idx="4">
                  <c:v>Apple Event September 2025</c:v>
                </c:pt>
              </c:strCache>
            </c:strRef>
          </c:cat>
          <c:val>
            <c:numRef>
              <c:f>'Task 5.2 (ii)'!$C$13:$C$17</c:f>
              <c:numCache>
                <c:formatCode>General</c:formatCode>
                <c:ptCount val="5"/>
                <c:pt idx="0">
                  <c:v>107259</c:v>
                </c:pt>
                <c:pt idx="1">
                  <c:v>106800</c:v>
                </c:pt>
                <c:pt idx="2">
                  <c:v>99093</c:v>
                </c:pt>
                <c:pt idx="3">
                  <c:v>50927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D6-4E78-9325-39AD647BE9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35661951"/>
        <c:axId val="2135662911"/>
      </c:barChart>
      <c:catAx>
        <c:axId val="213566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662911"/>
        <c:crosses val="autoZero"/>
        <c:auto val="1"/>
        <c:lblAlgn val="ctr"/>
        <c:lblOffset val="100"/>
        <c:noMultiLvlLbl val="0"/>
      </c:catAx>
      <c:valAx>
        <c:axId val="2135662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66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5.2 (ii)'!$F$12</c:f>
              <c:strCache>
                <c:ptCount val="1"/>
                <c:pt idx="0">
                  <c:v>Follower Growth Rate During Campaign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5.2 (ii)'!$E$13:$E$17</c:f>
              <c:strCache>
                <c:ptCount val="5"/>
                <c:pt idx="0">
                  <c:v>iPhone 16 Launch</c:v>
                </c:pt>
                <c:pt idx="1">
                  <c:v>MacBook Air M3 Campaign</c:v>
                </c:pt>
                <c:pt idx="2">
                  <c:v>Sustainability Awareness Drive</c:v>
                </c:pt>
                <c:pt idx="3">
                  <c:v>Apple Watch Ultra 2 Launch</c:v>
                </c:pt>
                <c:pt idx="4">
                  <c:v>Apple Event September 2025</c:v>
                </c:pt>
              </c:strCache>
            </c:strRef>
          </c:cat>
          <c:val>
            <c:numRef>
              <c:f>'Task 5.2 (ii)'!$F$13:$F$17</c:f>
              <c:numCache>
                <c:formatCode>0.00%</c:formatCode>
                <c:ptCount val="5"/>
                <c:pt idx="0">
                  <c:v>0.52800405992829158</c:v>
                </c:pt>
                <c:pt idx="1">
                  <c:v>0.18291470446354688</c:v>
                </c:pt>
                <c:pt idx="2">
                  <c:v>0.10563602225728558</c:v>
                </c:pt>
                <c:pt idx="3">
                  <c:v>6.5482727383745776E-2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3F-45AD-99F6-D90A308FA12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3773904"/>
        <c:axId val="43759504"/>
      </c:barChart>
      <c:catAx>
        <c:axId val="4377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59504"/>
        <c:crosses val="autoZero"/>
        <c:auto val="1"/>
        <c:lblAlgn val="ctr"/>
        <c:lblOffset val="100"/>
        <c:noMultiLvlLbl val="0"/>
      </c:catAx>
      <c:valAx>
        <c:axId val="4375950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7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[Apple Project (Task 6).xlsx]Task 6.1!PivotTable33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Weekly</a:t>
            </a:r>
            <a:r>
              <a:rPr lang="en-IN" b="1" baseline="0">
                <a:solidFill>
                  <a:schemeClr val="tx1"/>
                </a:solidFill>
              </a:rPr>
              <a:t> Follower Growth of Each Platform</a:t>
            </a:r>
            <a:endParaRPr lang="en-IN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1846504940558901"/>
          <c:y val="0.125968992248061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'Task 6.1'!$C$3:$C$4</c:f>
              <c:strCache>
                <c:ptCount val="1"/>
                <c:pt idx="0">
                  <c:v>Instagram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'Task 6.1'!$B$5:$B$55</c:f>
              <c:strCache>
                <c:ptCount val="50"/>
                <c:pt idx="0">
                  <c:v>03-06-2024</c:v>
                </c:pt>
                <c:pt idx="1">
                  <c:v>10-06-2024</c:v>
                </c:pt>
                <c:pt idx="2">
                  <c:v>17-06-2024</c:v>
                </c:pt>
                <c:pt idx="3">
                  <c:v>24-06-2024</c:v>
                </c:pt>
                <c:pt idx="4">
                  <c:v>01-07-2024</c:v>
                </c:pt>
                <c:pt idx="5">
                  <c:v>08-07-2024</c:v>
                </c:pt>
                <c:pt idx="6">
                  <c:v>15-07-2024</c:v>
                </c:pt>
                <c:pt idx="7">
                  <c:v>22-07-2024</c:v>
                </c:pt>
                <c:pt idx="8">
                  <c:v>29-07-2024</c:v>
                </c:pt>
                <c:pt idx="9">
                  <c:v>05-08-2024</c:v>
                </c:pt>
                <c:pt idx="10">
                  <c:v>12-08-2024</c:v>
                </c:pt>
                <c:pt idx="11">
                  <c:v>19-08-2024</c:v>
                </c:pt>
                <c:pt idx="12">
                  <c:v>26-08-2024</c:v>
                </c:pt>
                <c:pt idx="13">
                  <c:v>02-09-2024</c:v>
                </c:pt>
                <c:pt idx="14">
                  <c:v>09-09-2024</c:v>
                </c:pt>
                <c:pt idx="15">
                  <c:v>16-09-2024</c:v>
                </c:pt>
                <c:pt idx="16">
                  <c:v>23-09-2024</c:v>
                </c:pt>
                <c:pt idx="17">
                  <c:v>30-09-2024</c:v>
                </c:pt>
                <c:pt idx="18">
                  <c:v>07-10-2024</c:v>
                </c:pt>
                <c:pt idx="19">
                  <c:v>14-10-2024</c:v>
                </c:pt>
                <c:pt idx="20">
                  <c:v>21-10-2024</c:v>
                </c:pt>
                <c:pt idx="21">
                  <c:v>28-10-2024</c:v>
                </c:pt>
                <c:pt idx="22">
                  <c:v>04-11-2024</c:v>
                </c:pt>
                <c:pt idx="23">
                  <c:v>11-11-2024</c:v>
                </c:pt>
                <c:pt idx="24">
                  <c:v>18-11-2024</c:v>
                </c:pt>
                <c:pt idx="25">
                  <c:v>25-11-2024</c:v>
                </c:pt>
                <c:pt idx="26">
                  <c:v>02-12-2024</c:v>
                </c:pt>
                <c:pt idx="27">
                  <c:v>09-12-2024</c:v>
                </c:pt>
                <c:pt idx="28">
                  <c:v>16-12-2024</c:v>
                </c:pt>
                <c:pt idx="29">
                  <c:v>23-12-2024</c:v>
                </c:pt>
                <c:pt idx="30">
                  <c:v>30-12-2024</c:v>
                </c:pt>
                <c:pt idx="31">
                  <c:v>06-01-2025</c:v>
                </c:pt>
                <c:pt idx="32">
                  <c:v>13-01-2025</c:v>
                </c:pt>
                <c:pt idx="33">
                  <c:v>20-01-2025</c:v>
                </c:pt>
                <c:pt idx="34">
                  <c:v>27-01-2025</c:v>
                </c:pt>
                <c:pt idx="35">
                  <c:v>03-02-2025</c:v>
                </c:pt>
                <c:pt idx="36">
                  <c:v>10-02-2025</c:v>
                </c:pt>
                <c:pt idx="37">
                  <c:v>17-02-2025</c:v>
                </c:pt>
                <c:pt idx="38">
                  <c:v>24-02-2025</c:v>
                </c:pt>
                <c:pt idx="39">
                  <c:v>03-03-2025</c:v>
                </c:pt>
                <c:pt idx="40">
                  <c:v>10-03-2025</c:v>
                </c:pt>
                <c:pt idx="41">
                  <c:v>17-03-2025</c:v>
                </c:pt>
                <c:pt idx="42">
                  <c:v>24-03-2025</c:v>
                </c:pt>
                <c:pt idx="43">
                  <c:v>31-03-2025</c:v>
                </c:pt>
                <c:pt idx="44">
                  <c:v>07-04-2025</c:v>
                </c:pt>
                <c:pt idx="45">
                  <c:v>14-04-2025</c:v>
                </c:pt>
                <c:pt idx="46">
                  <c:v>21-04-2025</c:v>
                </c:pt>
                <c:pt idx="47">
                  <c:v>28-04-2025</c:v>
                </c:pt>
                <c:pt idx="48">
                  <c:v>05-05-2025</c:v>
                </c:pt>
                <c:pt idx="49">
                  <c:v>12-05-2025</c:v>
                </c:pt>
              </c:strCache>
            </c:strRef>
          </c:cat>
          <c:val>
            <c:numRef>
              <c:f>'Task 6.1'!$C$5:$C$55</c:f>
              <c:numCache>
                <c:formatCode>#,##0</c:formatCode>
                <c:ptCount val="50"/>
                <c:pt idx="0">
                  <c:v>103777</c:v>
                </c:pt>
                <c:pt idx="1">
                  <c:v>134418</c:v>
                </c:pt>
                <c:pt idx="2">
                  <c:v>333913</c:v>
                </c:pt>
                <c:pt idx="3">
                  <c:v>189735</c:v>
                </c:pt>
                <c:pt idx="4">
                  <c:v>446576</c:v>
                </c:pt>
                <c:pt idx="6">
                  <c:v>503831</c:v>
                </c:pt>
                <c:pt idx="9">
                  <c:v>309517</c:v>
                </c:pt>
                <c:pt idx="10">
                  <c:v>333052</c:v>
                </c:pt>
                <c:pt idx="11">
                  <c:v>720006</c:v>
                </c:pt>
                <c:pt idx="12">
                  <c:v>385849</c:v>
                </c:pt>
                <c:pt idx="13">
                  <c:v>795220</c:v>
                </c:pt>
                <c:pt idx="14">
                  <c:v>420811</c:v>
                </c:pt>
                <c:pt idx="16">
                  <c:v>1391500</c:v>
                </c:pt>
                <c:pt idx="17">
                  <c:v>967881</c:v>
                </c:pt>
                <c:pt idx="18">
                  <c:v>507970</c:v>
                </c:pt>
                <c:pt idx="20">
                  <c:v>1654883</c:v>
                </c:pt>
                <c:pt idx="24">
                  <c:v>631128</c:v>
                </c:pt>
                <c:pt idx="25">
                  <c:v>1317342</c:v>
                </c:pt>
                <c:pt idx="26">
                  <c:v>1367340</c:v>
                </c:pt>
                <c:pt idx="27">
                  <c:v>704218</c:v>
                </c:pt>
                <c:pt idx="28">
                  <c:v>1428308</c:v>
                </c:pt>
                <c:pt idx="29">
                  <c:v>735242</c:v>
                </c:pt>
                <c:pt idx="30">
                  <c:v>761158</c:v>
                </c:pt>
                <c:pt idx="32">
                  <c:v>810061</c:v>
                </c:pt>
                <c:pt idx="34">
                  <c:v>868909</c:v>
                </c:pt>
                <c:pt idx="37">
                  <c:v>1851857</c:v>
                </c:pt>
                <c:pt idx="38">
                  <c:v>1897457</c:v>
                </c:pt>
                <c:pt idx="40">
                  <c:v>991495</c:v>
                </c:pt>
                <c:pt idx="41">
                  <c:v>1013386</c:v>
                </c:pt>
                <c:pt idx="43">
                  <c:v>1063421</c:v>
                </c:pt>
                <c:pt idx="44">
                  <c:v>1087368</c:v>
                </c:pt>
                <c:pt idx="46">
                  <c:v>3376566</c:v>
                </c:pt>
                <c:pt idx="48">
                  <c:v>1168011</c:v>
                </c:pt>
                <c:pt idx="49">
                  <c:v>1170816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CC-48F2-B06D-6D02AD16094E}"/>
            </c:ext>
          </c:extLst>
        </c:ser>
        <c:ser>
          <c:idx val="1"/>
          <c:order val="1"/>
          <c:tx>
            <c:strRef>
              <c:f>'Task 6.1'!$D$3:$D$4</c:f>
              <c:strCache>
                <c:ptCount val="1"/>
                <c:pt idx="0">
                  <c:v>LinkedIn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'Task 6.1'!$B$5:$B$55</c:f>
              <c:strCache>
                <c:ptCount val="50"/>
                <c:pt idx="0">
                  <c:v>03-06-2024</c:v>
                </c:pt>
                <c:pt idx="1">
                  <c:v>10-06-2024</c:v>
                </c:pt>
                <c:pt idx="2">
                  <c:v>17-06-2024</c:v>
                </c:pt>
                <c:pt idx="3">
                  <c:v>24-06-2024</c:v>
                </c:pt>
                <c:pt idx="4">
                  <c:v>01-07-2024</c:v>
                </c:pt>
                <c:pt idx="5">
                  <c:v>08-07-2024</c:v>
                </c:pt>
                <c:pt idx="6">
                  <c:v>15-07-2024</c:v>
                </c:pt>
                <c:pt idx="7">
                  <c:v>22-07-2024</c:v>
                </c:pt>
                <c:pt idx="8">
                  <c:v>29-07-2024</c:v>
                </c:pt>
                <c:pt idx="9">
                  <c:v>05-08-2024</c:v>
                </c:pt>
                <c:pt idx="10">
                  <c:v>12-08-2024</c:v>
                </c:pt>
                <c:pt idx="11">
                  <c:v>19-08-2024</c:v>
                </c:pt>
                <c:pt idx="12">
                  <c:v>26-08-2024</c:v>
                </c:pt>
                <c:pt idx="13">
                  <c:v>02-09-2024</c:v>
                </c:pt>
                <c:pt idx="14">
                  <c:v>09-09-2024</c:v>
                </c:pt>
                <c:pt idx="15">
                  <c:v>16-09-2024</c:v>
                </c:pt>
                <c:pt idx="16">
                  <c:v>23-09-2024</c:v>
                </c:pt>
                <c:pt idx="17">
                  <c:v>30-09-2024</c:v>
                </c:pt>
                <c:pt idx="18">
                  <c:v>07-10-2024</c:v>
                </c:pt>
                <c:pt idx="19">
                  <c:v>14-10-2024</c:v>
                </c:pt>
                <c:pt idx="20">
                  <c:v>21-10-2024</c:v>
                </c:pt>
                <c:pt idx="21">
                  <c:v>28-10-2024</c:v>
                </c:pt>
                <c:pt idx="22">
                  <c:v>04-11-2024</c:v>
                </c:pt>
                <c:pt idx="23">
                  <c:v>11-11-2024</c:v>
                </c:pt>
                <c:pt idx="24">
                  <c:v>18-11-2024</c:v>
                </c:pt>
                <c:pt idx="25">
                  <c:v>25-11-2024</c:v>
                </c:pt>
                <c:pt idx="26">
                  <c:v>02-12-2024</c:v>
                </c:pt>
                <c:pt idx="27">
                  <c:v>09-12-2024</c:v>
                </c:pt>
                <c:pt idx="28">
                  <c:v>16-12-2024</c:v>
                </c:pt>
                <c:pt idx="29">
                  <c:v>23-12-2024</c:v>
                </c:pt>
                <c:pt idx="30">
                  <c:v>30-12-2024</c:v>
                </c:pt>
                <c:pt idx="31">
                  <c:v>06-01-2025</c:v>
                </c:pt>
                <c:pt idx="32">
                  <c:v>13-01-2025</c:v>
                </c:pt>
                <c:pt idx="33">
                  <c:v>20-01-2025</c:v>
                </c:pt>
                <c:pt idx="34">
                  <c:v>27-01-2025</c:v>
                </c:pt>
                <c:pt idx="35">
                  <c:v>03-02-2025</c:v>
                </c:pt>
                <c:pt idx="36">
                  <c:v>10-02-2025</c:v>
                </c:pt>
                <c:pt idx="37">
                  <c:v>17-02-2025</c:v>
                </c:pt>
                <c:pt idx="38">
                  <c:v>24-02-2025</c:v>
                </c:pt>
                <c:pt idx="39">
                  <c:v>03-03-2025</c:v>
                </c:pt>
                <c:pt idx="40">
                  <c:v>10-03-2025</c:v>
                </c:pt>
                <c:pt idx="41">
                  <c:v>17-03-2025</c:v>
                </c:pt>
                <c:pt idx="42">
                  <c:v>24-03-2025</c:v>
                </c:pt>
                <c:pt idx="43">
                  <c:v>31-03-2025</c:v>
                </c:pt>
                <c:pt idx="44">
                  <c:v>07-04-2025</c:v>
                </c:pt>
                <c:pt idx="45">
                  <c:v>14-04-2025</c:v>
                </c:pt>
                <c:pt idx="46">
                  <c:v>21-04-2025</c:v>
                </c:pt>
                <c:pt idx="47">
                  <c:v>28-04-2025</c:v>
                </c:pt>
                <c:pt idx="48">
                  <c:v>05-05-2025</c:v>
                </c:pt>
                <c:pt idx="49">
                  <c:v>12-05-2025</c:v>
                </c:pt>
              </c:strCache>
            </c:strRef>
          </c:cat>
          <c:val>
            <c:numRef>
              <c:f>'Task 6.1'!$D$5:$D$55</c:f>
              <c:numCache>
                <c:formatCode>#,##0</c:formatCode>
                <c:ptCount val="50"/>
                <c:pt idx="2">
                  <c:v>170518</c:v>
                </c:pt>
                <c:pt idx="4">
                  <c:v>210260</c:v>
                </c:pt>
                <c:pt idx="5">
                  <c:v>716856</c:v>
                </c:pt>
                <c:pt idx="7">
                  <c:v>544695</c:v>
                </c:pt>
                <c:pt idx="8">
                  <c:v>587844</c:v>
                </c:pt>
                <c:pt idx="9">
                  <c:v>320404</c:v>
                </c:pt>
                <c:pt idx="12">
                  <c:v>371865</c:v>
                </c:pt>
                <c:pt idx="13">
                  <c:v>413369</c:v>
                </c:pt>
                <c:pt idx="14">
                  <c:v>438545</c:v>
                </c:pt>
                <c:pt idx="15">
                  <c:v>447968</c:v>
                </c:pt>
                <c:pt idx="18">
                  <c:v>492814</c:v>
                </c:pt>
                <c:pt idx="21">
                  <c:v>1170612</c:v>
                </c:pt>
                <c:pt idx="22">
                  <c:v>604702</c:v>
                </c:pt>
                <c:pt idx="23">
                  <c:v>620702</c:v>
                </c:pt>
                <c:pt idx="24">
                  <c:v>1287851</c:v>
                </c:pt>
                <c:pt idx="25">
                  <c:v>670642</c:v>
                </c:pt>
                <c:pt idx="26">
                  <c:v>682556</c:v>
                </c:pt>
                <c:pt idx="27">
                  <c:v>709957</c:v>
                </c:pt>
                <c:pt idx="28">
                  <c:v>723286</c:v>
                </c:pt>
                <c:pt idx="29">
                  <c:v>1472344</c:v>
                </c:pt>
                <c:pt idx="30">
                  <c:v>1526479</c:v>
                </c:pt>
                <c:pt idx="31">
                  <c:v>781868</c:v>
                </c:pt>
                <c:pt idx="32">
                  <c:v>807142</c:v>
                </c:pt>
                <c:pt idx="34">
                  <c:v>853477</c:v>
                </c:pt>
                <c:pt idx="36">
                  <c:v>2715333</c:v>
                </c:pt>
                <c:pt idx="37">
                  <c:v>917475</c:v>
                </c:pt>
                <c:pt idx="39">
                  <c:v>973452</c:v>
                </c:pt>
                <c:pt idx="40">
                  <c:v>997585</c:v>
                </c:pt>
                <c:pt idx="41">
                  <c:v>3048937</c:v>
                </c:pt>
                <c:pt idx="42">
                  <c:v>3123167</c:v>
                </c:pt>
                <c:pt idx="43">
                  <c:v>1066648</c:v>
                </c:pt>
                <c:pt idx="44">
                  <c:v>1077624</c:v>
                </c:pt>
                <c:pt idx="45">
                  <c:v>4415538</c:v>
                </c:pt>
                <c:pt idx="47">
                  <c:v>1135945</c:v>
                </c:pt>
                <c:pt idx="48">
                  <c:v>2312827</c:v>
                </c:pt>
                <c:pt idx="49">
                  <c:v>2356803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CC-48F2-B06D-6D02AD16094E}"/>
            </c:ext>
          </c:extLst>
        </c:ser>
        <c:ser>
          <c:idx val="2"/>
          <c:order val="2"/>
          <c:tx>
            <c:strRef>
              <c:f>'Task 6.1'!$E$3:$E$4</c:f>
              <c:strCache>
                <c:ptCount val="1"/>
                <c:pt idx="0">
                  <c:v>Twitter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'Task 6.1'!$B$5:$B$55</c:f>
              <c:strCache>
                <c:ptCount val="50"/>
                <c:pt idx="0">
                  <c:v>03-06-2024</c:v>
                </c:pt>
                <c:pt idx="1">
                  <c:v>10-06-2024</c:v>
                </c:pt>
                <c:pt idx="2">
                  <c:v>17-06-2024</c:v>
                </c:pt>
                <c:pt idx="3">
                  <c:v>24-06-2024</c:v>
                </c:pt>
                <c:pt idx="4">
                  <c:v>01-07-2024</c:v>
                </c:pt>
                <c:pt idx="5">
                  <c:v>08-07-2024</c:v>
                </c:pt>
                <c:pt idx="6">
                  <c:v>15-07-2024</c:v>
                </c:pt>
                <c:pt idx="7">
                  <c:v>22-07-2024</c:v>
                </c:pt>
                <c:pt idx="8">
                  <c:v>29-07-2024</c:v>
                </c:pt>
                <c:pt idx="9">
                  <c:v>05-08-2024</c:v>
                </c:pt>
                <c:pt idx="10">
                  <c:v>12-08-2024</c:v>
                </c:pt>
                <c:pt idx="11">
                  <c:v>19-08-2024</c:v>
                </c:pt>
                <c:pt idx="12">
                  <c:v>26-08-2024</c:v>
                </c:pt>
                <c:pt idx="13">
                  <c:v>02-09-2024</c:v>
                </c:pt>
                <c:pt idx="14">
                  <c:v>09-09-2024</c:v>
                </c:pt>
                <c:pt idx="15">
                  <c:v>16-09-2024</c:v>
                </c:pt>
                <c:pt idx="16">
                  <c:v>23-09-2024</c:v>
                </c:pt>
                <c:pt idx="17">
                  <c:v>30-09-2024</c:v>
                </c:pt>
                <c:pt idx="18">
                  <c:v>07-10-2024</c:v>
                </c:pt>
                <c:pt idx="19">
                  <c:v>14-10-2024</c:v>
                </c:pt>
                <c:pt idx="20">
                  <c:v>21-10-2024</c:v>
                </c:pt>
                <c:pt idx="21">
                  <c:v>28-10-2024</c:v>
                </c:pt>
                <c:pt idx="22">
                  <c:v>04-11-2024</c:v>
                </c:pt>
                <c:pt idx="23">
                  <c:v>11-11-2024</c:v>
                </c:pt>
                <c:pt idx="24">
                  <c:v>18-11-2024</c:v>
                </c:pt>
                <c:pt idx="25">
                  <c:v>25-11-2024</c:v>
                </c:pt>
                <c:pt idx="26">
                  <c:v>02-12-2024</c:v>
                </c:pt>
                <c:pt idx="27">
                  <c:v>09-12-2024</c:v>
                </c:pt>
                <c:pt idx="28">
                  <c:v>16-12-2024</c:v>
                </c:pt>
                <c:pt idx="29">
                  <c:v>23-12-2024</c:v>
                </c:pt>
                <c:pt idx="30">
                  <c:v>30-12-2024</c:v>
                </c:pt>
                <c:pt idx="31">
                  <c:v>06-01-2025</c:v>
                </c:pt>
                <c:pt idx="32">
                  <c:v>13-01-2025</c:v>
                </c:pt>
                <c:pt idx="33">
                  <c:v>20-01-2025</c:v>
                </c:pt>
                <c:pt idx="34">
                  <c:v>27-01-2025</c:v>
                </c:pt>
                <c:pt idx="35">
                  <c:v>03-02-2025</c:v>
                </c:pt>
                <c:pt idx="36">
                  <c:v>10-02-2025</c:v>
                </c:pt>
                <c:pt idx="37">
                  <c:v>17-02-2025</c:v>
                </c:pt>
                <c:pt idx="38">
                  <c:v>24-02-2025</c:v>
                </c:pt>
                <c:pt idx="39">
                  <c:v>03-03-2025</c:v>
                </c:pt>
                <c:pt idx="40">
                  <c:v>10-03-2025</c:v>
                </c:pt>
                <c:pt idx="41">
                  <c:v>17-03-2025</c:v>
                </c:pt>
                <c:pt idx="42">
                  <c:v>24-03-2025</c:v>
                </c:pt>
                <c:pt idx="43">
                  <c:v>31-03-2025</c:v>
                </c:pt>
                <c:pt idx="44">
                  <c:v>07-04-2025</c:v>
                </c:pt>
                <c:pt idx="45">
                  <c:v>14-04-2025</c:v>
                </c:pt>
                <c:pt idx="46">
                  <c:v>21-04-2025</c:v>
                </c:pt>
                <c:pt idx="47">
                  <c:v>28-04-2025</c:v>
                </c:pt>
                <c:pt idx="48">
                  <c:v>05-05-2025</c:v>
                </c:pt>
                <c:pt idx="49">
                  <c:v>12-05-2025</c:v>
                </c:pt>
              </c:strCache>
            </c:strRef>
          </c:cat>
          <c:val>
            <c:numRef>
              <c:f>'Task 6.1'!$E$5:$E$55</c:f>
              <c:numCache>
                <c:formatCode>#,##0</c:formatCode>
                <c:ptCount val="50"/>
                <c:pt idx="0">
                  <c:v>111209</c:v>
                </c:pt>
                <c:pt idx="1">
                  <c:v>297095</c:v>
                </c:pt>
                <c:pt idx="2">
                  <c:v>163790</c:v>
                </c:pt>
                <c:pt idx="3">
                  <c:v>389668</c:v>
                </c:pt>
                <c:pt idx="4">
                  <c:v>218723</c:v>
                </c:pt>
                <c:pt idx="5">
                  <c:v>231802</c:v>
                </c:pt>
                <c:pt idx="6">
                  <c:v>253858</c:v>
                </c:pt>
                <c:pt idx="7">
                  <c:v>272227</c:v>
                </c:pt>
                <c:pt idx="8">
                  <c:v>306304</c:v>
                </c:pt>
                <c:pt idx="9">
                  <c:v>313014</c:v>
                </c:pt>
                <c:pt idx="10">
                  <c:v>673289</c:v>
                </c:pt>
                <c:pt idx="12">
                  <c:v>377618</c:v>
                </c:pt>
                <c:pt idx="13">
                  <c:v>405141</c:v>
                </c:pt>
                <c:pt idx="15">
                  <c:v>453977</c:v>
                </c:pt>
                <c:pt idx="16">
                  <c:v>460228</c:v>
                </c:pt>
                <c:pt idx="17">
                  <c:v>976411</c:v>
                </c:pt>
                <c:pt idx="19">
                  <c:v>1572941</c:v>
                </c:pt>
                <c:pt idx="22">
                  <c:v>1202875</c:v>
                </c:pt>
                <c:pt idx="23">
                  <c:v>1223008</c:v>
                </c:pt>
                <c:pt idx="24">
                  <c:v>637512</c:v>
                </c:pt>
                <c:pt idx="27">
                  <c:v>700757</c:v>
                </c:pt>
                <c:pt idx="28">
                  <c:v>729561</c:v>
                </c:pt>
                <c:pt idx="30">
                  <c:v>772614</c:v>
                </c:pt>
                <c:pt idx="31">
                  <c:v>1589207</c:v>
                </c:pt>
                <c:pt idx="32">
                  <c:v>817407</c:v>
                </c:pt>
                <c:pt idx="33">
                  <c:v>2499836</c:v>
                </c:pt>
                <c:pt idx="34">
                  <c:v>1725104</c:v>
                </c:pt>
                <c:pt idx="35">
                  <c:v>1778284</c:v>
                </c:pt>
                <c:pt idx="36">
                  <c:v>904407</c:v>
                </c:pt>
                <c:pt idx="37">
                  <c:v>912374</c:v>
                </c:pt>
                <c:pt idx="39">
                  <c:v>1955311</c:v>
                </c:pt>
                <c:pt idx="40">
                  <c:v>988501</c:v>
                </c:pt>
                <c:pt idx="43">
                  <c:v>1057293</c:v>
                </c:pt>
                <c:pt idx="44">
                  <c:v>1085943</c:v>
                </c:pt>
                <c:pt idx="46">
                  <c:v>1131337</c:v>
                </c:pt>
                <c:pt idx="47">
                  <c:v>3437179</c:v>
                </c:pt>
                <c:pt idx="49">
                  <c:v>1186398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CC-48F2-B06D-6D02AD16094E}"/>
            </c:ext>
          </c:extLst>
        </c:ser>
        <c:ser>
          <c:idx val="3"/>
          <c:order val="3"/>
          <c:tx>
            <c:strRef>
              <c:f>'Task 6.1'!$F$3:$F$4</c:f>
              <c:strCache>
                <c:ptCount val="1"/>
                <c:pt idx="0">
                  <c:v>YouTube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'Task 6.1'!$B$5:$B$55</c:f>
              <c:strCache>
                <c:ptCount val="50"/>
                <c:pt idx="0">
                  <c:v>03-06-2024</c:v>
                </c:pt>
                <c:pt idx="1">
                  <c:v>10-06-2024</c:v>
                </c:pt>
                <c:pt idx="2">
                  <c:v>17-06-2024</c:v>
                </c:pt>
                <c:pt idx="3">
                  <c:v>24-06-2024</c:v>
                </c:pt>
                <c:pt idx="4">
                  <c:v>01-07-2024</c:v>
                </c:pt>
                <c:pt idx="5">
                  <c:v>08-07-2024</c:v>
                </c:pt>
                <c:pt idx="6">
                  <c:v>15-07-2024</c:v>
                </c:pt>
                <c:pt idx="7">
                  <c:v>22-07-2024</c:v>
                </c:pt>
                <c:pt idx="8">
                  <c:v>29-07-2024</c:v>
                </c:pt>
                <c:pt idx="9">
                  <c:v>05-08-2024</c:v>
                </c:pt>
                <c:pt idx="10">
                  <c:v>12-08-2024</c:v>
                </c:pt>
                <c:pt idx="11">
                  <c:v>19-08-2024</c:v>
                </c:pt>
                <c:pt idx="12">
                  <c:v>26-08-2024</c:v>
                </c:pt>
                <c:pt idx="13">
                  <c:v>02-09-2024</c:v>
                </c:pt>
                <c:pt idx="14">
                  <c:v>09-09-2024</c:v>
                </c:pt>
                <c:pt idx="15">
                  <c:v>16-09-2024</c:v>
                </c:pt>
                <c:pt idx="16">
                  <c:v>23-09-2024</c:v>
                </c:pt>
                <c:pt idx="17">
                  <c:v>30-09-2024</c:v>
                </c:pt>
                <c:pt idx="18">
                  <c:v>07-10-2024</c:v>
                </c:pt>
                <c:pt idx="19">
                  <c:v>14-10-2024</c:v>
                </c:pt>
                <c:pt idx="20">
                  <c:v>21-10-2024</c:v>
                </c:pt>
                <c:pt idx="21">
                  <c:v>28-10-2024</c:v>
                </c:pt>
                <c:pt idx="22">
                  <c:v>04-11-2024</c:v>
                </c:pt>
                <c:pt idx="23">
                  <c:v>11-11-2024</c:v>
                </c:pt>
                <c:pt idx="24">
                  <c:v>18-11-2024</c:v>
                </c:pt>
                <c:pt idx="25">
                  <c:v>25-11-2024</c:v>
                </c:pt>
                <c:pt idx="26">
                  <c:v>02-12-2024</c:v>
                </c:pt>
                <c:pt idx="27">
                  <c:v>09-12-2024</c:v>
                </c:pt>
                <c:pt idx="28">
                  <c:v>16-12-2024</c:v>
                </c:pt>
                <c:pt idx="29">
                  <c:v>23-12-2024</c:v>
                </c:pt>
                <c:pt idx="30">
                  <c:v>30-12-2024</c:v>
                </c:pt>
                <c:pt idx="31">
                  <c:v>06-01-2025</c:v>
                </c:pt>
                <c:pt idx="32">
                  <c:v>13-01-2025</c:v>
                </c:pt>
                <c:pt idx="33">
                  <c:v>20-01-2025</c:v>
                </c:pt>
                <c:pt idx="34">
                  <c:v>27-01-2025</c:v>
                </c:pt>
                <c:pt idx="35">
                  <c:v>03-02-2025</c:v>
                </c:pt>
                <c:pt idx="36">
                  <c:v>10-02-2025</c:v>
                </c:pt>
                <c:pt idx="37">
                  <c:v>17-02-2025</c:v>
                </c:pt>
                <c:pt idx="38">
                  <c:v>24-02-2025</c:v>
                </c:pt>
                <c:pt idx="39">
                  <c:v>03-03-2025</c:v>
                </c:pt>
                <c:pt idx="40">
                  <c:v>10-03-2025</c:v>
                </c:pt>
                <c:pt idx="41">
                  <c:v>17-03-2025</c:v>
                </c:pt>
                <c:pt idx="42">
                  <c:v>24-03-2025</c:v>
                </c:pt>
                <c:pt idx="43">
                  <c:v>31-03-2025</c:v>
                </c:pt>
                <c:pt idx="44">
                  <c:v>07-04-2025</c:v>
                </c:pt>
                <c:pt idx="45">
                  <c:v>14-04-2025</c:v>
                </c:pt>
                <c:pt idx="46">
                  <c:v>21-04-2025</c:v>
                </c:pt>
                <c:pt idx="47">
                  <c:v>28-04-2025</c:v>
                </c:pt>
                <c:pt idx="48">
                  <c:v>05-05-2025</c:v>
                </c:pt>
                <c:pt idx="49">
                  <c:v>12-05-2025</c:v>
                </c:pt>
              </c:strCache>
            </c:strRef>
          </c:cat>
          <c:val>
            <c:numRef>
              <c:f>'Task 6.1'!$F$5:$F$55</c:f>
              <c:numCache>
                <c:formatCode>#,##0</c:formatCode>
                <c:ptCount val="50"/>
                <c:pt idx="0">
                  <c:v>246535</c:v>
                </c:pt>
                <c:pt idx="1">
                  <c:v>141896</c:v>
                </c:pt>
                <c:pt idx="3">
                  <c:v>198388</c:v>
                </c:pt>
                <c:pt idx="6">
                  <c:v>255684</c:v>
                </c:pt>
                <c:pt idx="7">
                  <c:v>289283</c:v>
                </c:pt>
                <c:pt idx="8">
                  <c:v>300265</c:v>
                </c:pt>
                <c:pt idx="9">
                  <c:v>315557</c:v>
                </c:pt>
                <c:pt idx="10">
                  <c:v>340085</c:v>
                </c:pt>
                <c:pt idx="11">
                  <c:v>729433</c:v>
                </c:pt>
                <c:pt idx="12">
                  <c:v>391152</c:v>
                </c:pt>
                <c:pt idx="14">
                  <c:v>862353</c:v>
                </c:pt>
                <c:pt idx="15">
                  <c:v>895821</c:v>
                </c:pt>
                <c:pt idx="18">
                  <c:v>1002177</c:v>
                </c:pt>
                <c:pt idx="19">
                  <c:v>522852</c:v>
                </c:pt>
                <c:pt idx="20">
                  <c:v>545824</c:v>
                </c:pt>
                <c:pt idx="21">
                  <c:v>1143345</c:v>
                </c:pt>
                <c:pt idx="22">
                  <c:v>599760</c:v>
                </c:pt>
                <c:pt idx="23">
                  <c:v>625922</c:v>
                </c:pt>
                <c:pt idx="25">
                  <c:v>675785</c:v>
                </c:pt>
                <c:pt idx="26">
                  <c:v>694115</c:v>
                </c:pt>
                <c:pt idx="27">
                  <c:v>709008</c:v>
                </c:pt>
                <c:pt idx="29">
                  <c:v>748744</c:v>
                </c:pt>
                <c:pt idx="31">
                  <c:v>798137</c:v>
                </c:pt>
                <c:pt idx="32">
                  <c:v>818408</c:v>
                </c:pt>
                <c:pt idx="33">
                  <c:v>846217</c:v>
                </c:pt>
                <c:pt idx="35">
                  <c:v>1762198</c:v>
                </c:pt>
                <c:pt idx="38">
                  <c:v>1900474</c:v>
                </c:pt>
                <c:pt idx="39">
                  <c:v>966020</c:v>
                </c:pt>
                <c:pt idx="40">
                  <c:v>995050</c:v>
                </c:pt>
                <c:pt idx="42">
                  <c:v>1041686</c:v>
                </c:pt>
                <c:pt idx="43">
                  <c:v>1064988</c:v>
                </c:pt>
                <c:pt idx="44">
                  <c:v>1073082</c:v>
                </c:pt>
                <c:pt idx="48">
                  <c:v>1157985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CC-48F2-B06D-6D02AD1609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9860000"/>
        <c:axId val="679864320"/>
      </c:lineChart>
      <c:catAx>
        <c:axId val="679860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864320"/>
        <c:crosses val="autoZero"/>
        <c:auto val="1"/>
        <c:lblAlgn val="ctr"/>
        <c:lblOffset val="100"/>
        <c:noMultiLvlLbl val="0"/>
      </c:catAx>
      <c:valAx>
        <c:axId val="679864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Total</a:t>
                </a:r>
                <a:r>
                  <a:rPr lang="en-IN" b="1" baseline="0">
                    <a:solidFill>
                      <a:schemeClr val="tx1"/>
                    </a:solidFill>
                  </a:rPr>
                  <a:t> Followers</a:t>
                </a:r>
                <a:endParaRPr lang="en-IN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86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Correlation -- Ad Spend vs Net Follower Gain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'Task 6.4.'!$N$1</c:f>
              <c:strCache>
                <c:ptCount val="1"/>
                <c:pt idx="0">
                  <c:v>Net Follower Gain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'Task 6.4.'!$M$2:$M$201</c:f>
              <c:numCache>
                <c:formatCode>[$$-409]#,##0</c:formatCode>
                <c:ptCount val="200"/>
                <c:pt idx="0">
                  <c:v>10161</c:v>
                </c:pt>
                <c:pt idx="1">
                  <c:v>10162</c:v>
                </c:pt>
                <c:pt idx="2">
                  <c:v>10541</c:v>
                </c:pt>
                <c:pt idx="3">
                  <c:v>11013</c:v>
                </c:pt>
                <c:pt idx="4">
                  <c:v>11171</c:v>
                </c:pt>
                <c:pt idx="5">
                  <c:v>11431</c:v>
                </c:pt>
                <c:pt idx="6">
                  <c:v>11619</c:v>
                </c:pt>
                <c:pt idx="7">
                  <c:v>11651</c:v>
                </c:pt>
                <c:pt idx="8">
                  <c:v>11828</c:v>
                </c:pt>
                <c:pt idx="9">
                  <c:v>12023</c:v>
                </c:pt>
                <c:pt idx="10">
                  <c:v>12096</c:v>
                </c:pt>
                <c:pt idx="11">
                  <c:v>12539</c:v>
                </c:pt>
                <c:pt idx="12">
                  <c:v>12563</c:v>
                </c:pt>
                <c:pt idx="13">
                  <c:v>12643</c:v>
                </c:pt>
                <c:pt idx="14">
                  <c:v>12839</c:v>
                </c:pt>
                <c:pt idx="15">
                  <c:v>13384</c:v>
                </c:pt>
                <c:pt idx="16">
                  <c:v>13390</c:v>
                </c:pt>
                <c:pt idx="17">
                  <c:v>13471</c:v>
                </c:pt>
                <c:pt idx="18">
                  <c:v>13586</c:v>
                </c:pt>
                <c:pt idx="19">
                  <c:v>15017</c:v>
                </c:pt>
                <c:pt idx="20">
                  <c:v>15105</c:v>
                </c:pt>
                <c:pt idx="21">
                  <c:v>15110</c:v>
                </c:pt>
                <c:pt idx="22">
                  <c:v>15347</c:v>
                </c:pt>
                <c:pt idx="23">
                  <c:v>15432</c:v>
                </c:pt>
                <c:pt idx="24">
                  <c:v>15469</c:v>
                </c:pt>
                <c:pt idx="25">
                  <c:v>15997</c:v>
                </c:pt>
                <c:pt idx="26">
                  <c:v>16256</c:v>
                </c:pt>
                <c:pt idx="27">
                  <c:v>16397</c:v>
                </c:pt>
                <c:pt idx="28">
                  <c:v>16643</c:v>
                </c:pt>
                <c:pt idx="29">
                  <c:v>17531</c:v>
                </c:pt>
                <c:pt idx="30">
                  <c:v>17710</c:v>
                </c:pt>
                <c:pt idx="31">
                  <c:v>17736</c:v>
                </c:pt>
                <c:pt idx="32">
                  <c:v>17896</c:v>
                </c:pt>
                <c:pt idx="33">
                  <c:v>17909</c:v>
                </c:pt>
                <c:pt idx="34">
                  <c:v>17927</c:v>
                </c:pt>
                <c:pt idx="35">
                  <c:v>17999</c:v>
                </c:pt>
                <c:pt idx="36">
                  <c:v>18329</c:v>
                </c:pt>
                <c:pt idx="37">
                  <c:v>18461</c:v>
                </c:pt>
                <c:pt idx="38">
                  <c:v>19067</c:v>
                </c:pt>
                <c:pt idx="39">
                  <c:v>19435</c:v>
                </c:pt>
                <c:pt idx="40">
                  <c:v>19518</c:v>
                </c:pt>
                <c:pt idx="41">
                  <c:v>19557</c:v>
                </c:pt>
                <c:pt idx="42">
                  <c:v>19596</c:v>
                </c:pt>
                <c:pt idx="43">
                  <c:v>19833</c:v>
                </c:pt>
                <c:pt idx="44">
                  <c:v>20028</c:v>
                </c:pt>
                <c:pt idx="45">
                  <c:v>20258</c:v>
                </c:pt>
                <c:pt idx="46">
                  <c:v>20720</c:v>
                </c:pt>
                <c:pt idx="47">
                  <c:v>21005</c:v>
                </c:pt>
                <c:pt idx="48">
                  <c:v>21918</c:v>
                </c:pt>
                <c:pt idx="49">
                  <c:v>21929</c:v>
                </c:pt>
                <c:pt idx="50">
                  <c:v>22087</c:v>
                </c:pt>
                <c:pt idx="51">
                  <c:v>22448</c:v>
                </c:pt>
                <c:pt idx="52">
                  <c:v>22693</c:v>
                </c:pt>
                <c:pt idx="53">
                  <c:v>23109</c:v>
                </c:pt>
                <c:pt idx="54">
                  <c:v>23428</c:v>
                </c:pt>
                <c:pt idx="55">
                  <c:v>23493</c:v>
                </c:pt>
                <c:pt idx="56">
                  <c:v>23944</c:v>
                </c:pt>
                <c:pt idx="57">
                  <c:v>23975</c:v>
                </c:pt>
                <c:pt idx="58">
                  <c:v>24226</c:v>
                </c:pt>
                <c:pt idx="59">
                  <c:v>24289</c:v>
                </c:pt>
                <c:pt idx="60">
                  <c:v>24472</c:v>
                </c:pt>
                <c:pt idx="61">
                  <c:v>24537</c:v>
                </c:pt>
                <c:pt idx="62">
                  <c:v>25078</c:v>
                </c:pt>
                <c:pt idx="63">
                  <c:v>25261</c:v>
                </c:pt>
                <c:pt idx="64">
                  <c:v>25379</c:v>
                </c:pt>
                <c:pt idx="65">
                  <c:v>25379</c:v>
                </c:pt>
                <c:pt idx="66">
                  <c:v>25892</c:v>
                </c:pt>
                <c:pt idx="67">
                  <c:v>26029</c:v>
                </c:pt>
                <c:pt idx="68">
                  <c:v>26044</c:v>
                </c:pt>
                <c:pt idx="69">
                  <c:v>26087</c:v>
                </c:pt>
                <c:pt idx="70">
                  <c:v>26184</c:v>
                </c:pt>
                <c:pt idx="71">
                  <c:v>26370</c:v>
                </c:pt>
                <c:pt idx="72">
                  <c:v>27015</c:v>
                </c:pt>
                <c:pt idx="73">
                  <c:v>27069</c:v>
                </c:pt>
                <c:pt idx="74">
                  <c:v>27073</c:v>
                </c:pt>
                <c:pt idx="75">
                  <c:v>27081</c:v>
                </c:pt>
                <c:pt idx="76">
                  <c:v>27833</c:v>
                </c:pt>
                <c:pt idx="77">
                  <c:v>28284</c:v>
                </c:pt>
                <c:pt idx="78">
                  <c:v>28313</c:v>
                </c:pt>
                <c:pt idx="79">
                  <c:v>28394</c:v>
                </c:pt>
                <c:pt idx="80">
                  <c:v>28509</c:v>
                </c:pt>
                <c:pt idx="81">
                  <c:v>28681</c:v>
                </c:pt>
                <c:pt idx="82">
                  <c:v>28745</c:v>
                </c:pt>
                <c:pt idx="83">
                  <c:v>28994</c:v>
                </c:pt>
                <c:pt idx="84">
                  <c:v>29194</c:v>
                </c:pt>
                <c:pt idx="85">
                  <c:v>29675</c:v>
                </c:pt>
                <c:pt idx="86">
                  <c:v>29715</c:v>
                </c:pt>
                <c:pt idx="87">
                  <c:v>29873</c:v>
                </c:pt>
                <c:pt idx="88">
                  <c:v>30644</c:v>
                </c:pt>
                <c:pt idx="89">
                  <c:v>31621</c:v>
                </c:pt>
                <c:pt idx="90">
                  <c:v>31817</c:v>
                </c:pt>
                <c:pt idx="91">
                  <c:v>32436</c:v>
                </c:pt>
                <c:pt idx="92">
                  <c:v>32669</c:v>
                </c:pt>
                <c:pt idx="93">
                  <c:v>33225</c:v>
                </c:pt>
                <c:pt idx="94">
                  <c:v>33252</c:v>
                </c:pt>
                <c:pt idx="95">
                  <c:v>33284</c:v>
                </c:pt>
                <c:pt idx="96">
                  <c:v>33705</c:v>
                </c:pt>
                <c:pt idx="97">
                  <c:v>33762</c:v>
                </c:pt>
                <c:pt idx="98">
                  <c:v>33928</c:v>
                </c:pt>
                <c:pt idx="99">
                  <c:v>34286</c:v>
                </c:pt>
                <c:pt idx="100">
                  <c:v>34570</c:v>
                </c:pt>
                <c:pt idx="101">
                  <c:v>35051</c:v>
                </c:pt>
                <c:pt idx="102">
                  <c:v>35122</c:v>
                </c:pt>
                <c:pt idx="103">
                  <c:v>35279</c:v>
                </c:pt>
                <c:pt idx="104">
                  <c:v>36201</c:v>
                </c:pt>
                <c:pt idx="105">
                  <c:v>36661</c:v>
                </c:pt>
                <c:pt idx="106">
                  <c:v>37037</c:v>
                </c:pt>
                <c:pt idx="107">
                  <c:v>37386</c:v>
                </c:pt>
                <c:pt idx="108">
                  <c:v>37523</c:v>
                </c:pt>
                <c:pt idx="109">
                  <c:v>37766</c:v>
                </c:pt>
                <c:pt idx="110">
                  <c:v>38047</c:v>
                </c:pt>
                <c:pt idx="111">
                  <c:v>38228</c:v>
                </c:pt>
                <c:pt idx="112">
                  <c:v>38272</c:v>
                </c:pt>
                <c:pt idx="113">
                  <c:v>38731</c:v>
                </c:pt>
                <c:pt idx="114">
                  <c:v>38854</c:v>
                </c:pt>
                <c:pt idx="115">
                  <c:v>39197</c:v>
                </c:pt>
                <c:pt idx="116">
                  <c:v>39252</c:v>
                </c:pt>
                <c:pt idx="117">
                  <c:v>39309</c:v>
                </c:pt>
                <c:pt idx="118">
                  <c:v>39312</c:v>
                </c:pt>
                <c:pt idx="119">
                  <c:v>39411</c:v>
                </c:pt>
                <c:pt idx="120">
                  <c:v>39750</c:v>
                </c:pt>
                <c:pt idx="121">
                  <c:v>40254</c:v>
                </c:pt>
                <c:pt idx="122">
                  <c:v>40268</c:v>
                </c:pt>
                <c:pt idx="123">
                  <c:v>40314</c:v>
                </c:pt>
                <c:pt idx="124">
                  <c:v>40447</c:v>
                </c:pt>
                <c:pt idx="125">
                  <c:v>40508</c:v>
                </c:pt>
                <c:pt idx="126">
                  <c:v>40682</c:v>
                </c:pt>
                <c:pt idx="127">
                  <c:v>41358</c:v>
                </c:pt>
                <c:pt idx="128">
                  <c:v>41703</c:v>
                </c:pt>
                <c:pt idx="129">
                  <c:v>42262</c:v>
                </c:pt>
                <c:pt idx="130">
                  <c:v>42373</c:v>
                </c:pt>
                <c:pt idx="131">
                  <c:v>42591</c:v>
                </c:pt>
                <c:pt idx="132">
                  <c:v>42972</c:v>
                </c:pt>
                <c:pt idx="133">
                  <c:v>43598</c:v>
                </c:pt>
                <c:pt idx="134">
                  <c:v>43787</c:v>
                </c:pt>
                <c:pt idx="135">
                  <c:v>43848</c:v>
                </c:pt>
                <c:pt idx="136">
                  <c:v>43937</c:v>
                </c:pt>
                <c:pt idx="137">
                  <c:v>44051</c:v>
                </c:pt>
                <c:pt idx="138">
                  <c:v>44501</c:v>
                </c:pt>
                <c:pt idx="139">
                  <c:v>44521</c:v>
                </c:pt>
                <c:pt idx="140">
                  <c:v>44546</c:v>
                </c:pt>
                <c:pt idx="141">
                  <c:v>44742</c:v>
                </c:pt>
                <c:pt idx="142">
                  <c:v>44782</c:v>
                </c:pt>
                <c:pt idx="143">
                  <c:v>44865</c:v>
                </c:pt>
                <c:pt idx="144">
                  <c:v>44947</c:v>
                </c:pt>
                <c:pt idx="145">
                  <c:v>45525</c:v>
                </c:pt>
                <c:pt idx="146">
                  <c:v>46060</c:v>
                </c:pt>
                <c:pt idx="147">
                  <c:v>46727</c:v>
                </c:pt>
                <c:pt idx="148">
                  <c:v>46727</c:v>
                </c:pt>
                <c:pt idx="149">
                  <c:v>46751</c:v>
                </c:pt>
                <c:pt idx="150">
                  <c:v>46768</c:v>
                </c:pt>
                <c:pt idx="151">
                  <c:v>47051</c:v>
                </c:pt>
                <c:pt idx="152">
                  <c:v>47481</c:v>
                </c:pt>
                <c:pt idx="153">
                  <c:v>47766</c:v>
                </c:pt>
                <c:pt idx="154">
                  <c:v>47804</c:v>
                </c:pt>
                <c:pt idx="155">
                  <c:v>47861</c:v>
                </c:pt>
                <c:pt idx="156">
                  <c:v>48019</c:v>
                </c:pt>
                <c:pt idx="157">
                  <c:v>48328</c:v>
                </c:pt>
                <c:pt idx="158">
                  <c:v>48356</c:v>
                </c:pt>
                <c:pt idx="159">
                  <c:v>48659</c:v>
                </c:pt>
                <c:pt idx="160">
                  <c:v>49110</c:v>
                </c:pt>
                <c:pt idx="161">
                  <c:v>50372</c:v>
                </c:pt>
                <c:pt idx="162">
                  <c:v>50785</c:v>
                </c:pt>
                <c:pt idx="163">
                  <c:v>51796</c:v>
                </c:pt>
                <c:pt idx="164">
                  <c:v>51800</c:v>
                </c:pt>
                <c:pt idx="165">
                  <c:v>51903</c:v>
                </c:pt>
                <c:pt idx="166">
                  <c:v>52003</c:v>
                </c:pt>
                <c:pt idx="167">
                  <c:v>52092</c:v>
                </c:pt>
                <c:pt idx="168">
                  <c:v>52821</c:v>
                </c:pt>
                <c:pt idx="169">
                  <c:v>52845</c:v>
                </c:pt>
                <c:pt idx="170">
                  <c:v>52963</c:v>
                </c:pt>
                <c:pt idx="171">
                  <c:v>53363</c:v>
                </c:pt>
                <c:pt idx="172">
                  <c:v>53543</c:v>
                </c:pt>
                <c:pt idx="173">
                  <c:v>53590</c:v>
                </c:pt>
                <c:pt idx="174">
                  <c:v>53619</c:v>
                </c:pt>
                <c:pt idx="175">
                  <c:v>53922</c:v>
                </c:pt>
                <c:pt idx="176">
                  <c:v>53934</c:v>
                </c:pt>
                <c:pt idx="177">
                  <c:v>54848</c:v>
                </c:pt>
                <c:pt idx="178">
                  <c:v>55253</c:v>
                </c:pt>
                <c:pt idx="179">
                  <c:v>55603</c:v>
                </c:pt>
                <c:pt idx="180">
                  <c:v>55657</c:v>
                </c:pt>
                <c:pt idx="181">
                  <c:v>55951</c:v>
                </c:pt>
                <c:pt idx="182">
                  <c:v>56026</c:v>
                </c:pt>
                <c:pt idx="183">
                  <c:v>56698</c:v>
                </c:pt>
                <c:pt idx="184">
                  <c:v>56850</c:v>
                </c:pt>
                <c:pt idx="185">
                  <c:v>56907</c:v>
                </c:pt>
                <c:pt idx="186">
                  <c:v>57299</c:v>
                </c:pt>
                <c:pt idx="187">
                  <c:v>57639</c:v>
                </c:pt>
                <c:pt idx="188">
                  <c:v>58201</c:v>
                </c:pt>
                <c:pt idx="189">
                  <c:v>58330</c:v>
                </c:pt>
                <c:pt idx="190">
                  <c:v>58709</c:v>
                </c:pt>
                <c:pt idx="191">
                  <c:v>58831</c:v>
                </c:pt>
                <c:pt idx="192">
                  <c:v>58868</c:v>
                </c:pt>
                <c:pt idx="193">
                  <c:v>58998</c:v>
                </c:pt>
                <c:pt idx="194">
                  <c:v>59378</c:v>
                </c:pt>
                <c:pt idx="195">
                  <c:v>59733</c:v>
                </c:pt>
                <c:pt idx="196">
                  <c:v>59745</c:v>
                </c:pt>
                <c:pt idx="197">
                  <c:v>59811</c:v>
                </c:pt>
                <c:pt idx="198">
                  <c:v>59815</c:v>
                </c:pt>
                <c:pt idx="199">
                  <c:v>59823</c:v>
                </c:pt>
              </c:numCache>
            </c:numRef>
          </c:xVal>
          <c:yVal>
            <c:numRef>
              <c:f>'Task 6.4.'!$N$2:$N$201</c:f>
              <c:numCache>
                <c:formatCode>#,##0</c:formatCode>
                <c:ptCount val="200"/>
                <c:pt idx="0">
                  <c:v>4356</c:v>
                </c:pt>
                <c:pt idx="1">
                  <c:v>6380</c:v>
                </c:pt>
                <c:pt idx="2">
                  <c:v>6121</c:v>
                </c:pt>
                <c:pt idx="3">
                  <c:v>3202</c:v>
                </c:pt>
                <c:pt idx="4">
                  <c:v>6425</c:v>
                </c:pt>
                <c:pt idx="5">
                  <c:v>6677</c:v>
                </c:pt>
                <c:pt idx="6">
                  <c:v>8642</c:v>
                </c:pt>
                <c:pt idx="7">
                  <c:v>4147</c:v>
                </c:pt>
                <c:pt idx="8">
                  <c:v>1918</c:v>
                </c:pt>
                <c:pt idx="9">
                  <c:v>7092</c:v>
                </c:pt>
                <c:pt idx="10">
                  <c:v>8200</c:v>
                </c:pt>
                <c:pt idx="11">
                  <c:v>7555</c:v>
                </c:pt>
                <c:pt idx="12">
                  <c:v>3445</c:v>
                </c:pt>
                <c:pt idx="13">
                  <c:v>4189</c:v>
                </c:pt>
                <c:pt idx="14">
                  <c:v>1001</c:v>
                </c:pt>
                <c:pt idx="15">
                  <c:v>8518</c:v>
                </c:pt>
                <c:pt idx="16">
                  <c:v>6593</c:v>
                </c:pt>
                <c:pt idx="17">
                  <c:v>5206</c:v>
                </c:pt>
                <c:pt idx="18">
                  <c:v>3497</c:v>
                </c:pt>
                <c:pt idx="19">
                  <c:v>8527</c:v>
                </c:pt>
                <c:pt idx="20">
                  <c:v>2919</c:v>
                </c:pt>
                <c:pt idx="21">
                  <c:v>7452</c:v>
                </c:pt>
                <c:pt idx="22">
                  <c:v>9044</c:v>
                </c:pt>
                <c:pt idx="23">
                  <c:v>2067</c:v>
                </c:pt>
                <c:pt idx="24">
                  <c:v>8361</c:v>
                </c:pt>
                <c:pt idx="25">
                  <c:v>8228</c:v>
                </c:pt>
                <c:pt idx="26">
                  <c:v>1543</c:v>
                </c:pt>
                <c:pt idx="27">
                  <c:v>5402</c:v>
                </c:pt>
                <c:pt idx="28">
                  <c:v>7033</c:v>
                </c:pt>
                <c:pt idx="29">
                  <c:v>5428</c:v>
                </c:pt>
                <c:pt idx="30">
                  <c:v>8128</c:v>
                </c:pt>
                <c:pt idx="31">
                  <c:v>3805</c:v>
                </c:pt>
                <c:pt idx="32">
                  <c:v>2535</c:v>
                </c:pt>
                <c:pt idx="33">
                  <c:v>6236</c:v>
                </c:pt>
                <c:pt idx="34">
                  <c:v>5990</c:v>
                </c:pt>
                <c:pt idx="35">
                  <c:v>4314</c:v>
                </c:pt>
                <c:pt idx="36">
                  <c:v>6469</c:v>
                </c:pt>
                <c:pt idx="37">
                  <c:v>7432</c:v>
                </c:pt>
                <c:pt idx="38">
                  <c:v>1290</c:v>
                </c:pt>
                <c:pt idx="39">
                  <c:v>9125</c:v>
                </c:pt>
                <c:pt idx="40">
                  <c:v>3011</c:v>
                </c:pt>
                <c:pt idx="41">
                  <c:v>6029</c:v>
                </c:pt>
                <c:pt idx="42">
                  <c:v>4885</c:v>
                </c:pt>
                <c:pt idx="43">
                  <c:v>3555</c:v>
                </c:pt>
                <c:pt idx="44">
                  <c:v>8487</c:v>
                </c:pt>
                <c:pt idx="45">
                  <c:v>4942</c:v>
                </c:pt>
                <c:pt idx="46">
                  <c:v>2832</c:v>
                </c:pt>
                <c:pt idx="47">
                  <c:v>5071</c:v>
                </c:pt>
                <c:pt idx="48">
                  <c:v>7058</c:v>
                </c:pt>
                <c:pt idx="49">
                  <c:v>2926</c:v>
                </c:pt>
                <c:pt idx="50">
                  <c:v>6073</c:v>
                </c:pt>
                <c:pt idx="51">
                  <c:v>6439</c:v>
                </c:pt>
                <c:pt idx="52">
                  <c:v>7442</c:v>
                </c:pt>
                <c:pt idx="53">
                  <c:v>3586</c:v>
                </c:pt>
                <c:pt idx="54">
                  <c:v>2084</c:v>
                </c:pt>
                <c:pt idx="55">
                  <c:v>7654</c:v>
                </c:pt>
                <c:pt idx="56">
                  <c:v>3777</c:v>
                </c:pt>
                <c:pt idx="57">
                  <c:v>7958</c:v>
                </c:pt>
                <c:pt idx="58">
                  <c:v>8231</c:v>
                </c:pt>
                <c:pt idx="59">
                  <c:v>6368</c:v>
                </c:pt>
                <c:pt idx="60">
                  <c:v>4882</c:v>
                </c:pt>
                <c:pt idx="61">
                  <c:v>1826</c:v>
                </c:pt>
                <c:pt idx="62">
                  <c:v>7471</c:v>
                </c:pt>
                <c:pt idx="63">
                  <c:v>1020</c:v>
                </c:pt>
                <c:pt idx="64">
                  <c:v>7215</c:v>
                </c:pt>
                <c:pt idx="65">
                  <c:v>9082</c:v>
                </c:pt>
                <c:pt idx="66">
                  <c:v>1567</c:v>
                </c:pt>
                <c:pt idx="67">
                  <c:v>1513</c:v>
                </c:pt>
                <c:pt idx="68">
                  <c:v>4027</c:v>
                </c:pt>
                <c:pt idx="69">
                  <c:v>2543</c:v>
                </c:pt>
                <c:pt idx="70">
                  <c:v>7565</c:v>
                </c:pt>
                <c:pt idx="71">
                  <c:v>6275</c:v>
                </c:pt>
                <c:pt idx="72">
                  <c:v>2081</c:v>
                </c:pt>
                <c:pt idx="73">
                  <c:v>7260</c:v>
                </c:pt>
                <c:pt idx="74">
                  <c:v>6434</c:v>
                </c:pt>
                <c:pt idx="75">
                  <c:v>5678</c:v>
                </c:pt>
                <c:pt idx="76">
                  <c:v>3592</c:v>
                </c:pt>
                <c:pt idx="77">
                  <c:v>3461</c:v>
                </c:pt>
                <c:pt idx="78">
                  <c:v>5442</c:v>
                </c:pt>
                <c:pt idx="79">
                  <c:v>3056</c:v>
                </c:pt>
                <c:pt idx="80">
                  <c:v>1017</c:v>
                </c:pt>
                <c:pt idx="81">
                  <c:v>6272</c:v>
                </c:pt>
                <c:pt idx="82">
                  <c:v>2805</c:v>
                </c:pt>
                <c:pt idx="83">
                  <c:v>4790</c:v>
                </c:pt>
                <c:pt idx="84">
                  <c:v>4808</c:v>
                </c:pt>
                <c:pt idx="85">
                  <c:v>6631</c:v>
                </c:pt>
                <c:pt idx="86">
                  <c:v>8601</c:v>
                </c:pt>
                <c:pt idx="87">
                  <c:v>7432</c:v>
                </c:pt>
                <c:pt idx="88">
                  <c:v>7959</c:v>
                </c:pt>
                <c:pt idx="89">
                  <c:v>7921</c:v>
                </c:pt>
                <c:pt idx="90">
                  <c:v>7224</c:v>
                </c:pt>
                <c:pt idx="91">
                  <c:v>6174</c:v>
                </c:pt>
                <c:pt idx="92">
                  <c:v>5210</c:v>
                </c:pt>
                <c:pt idx="93">
                  <c:v>5795</c:v>
                </c:pt>
                <c:pt idx="94">
                  <c:v>2525</c:v>
                </c:pt>
                <c:pt idx="95">
                  <c:v>949</c:v>
                </c:pt>
                <c:pt idx="96">
                  <c:v>7151</c:v>
                </c:pt>
                <c:pt idx="97">
                  <c:v>6728</c:v>
                </c:pt>
                <c:pt idx="98">
                  <c:v>7871</c:v>
                </c:pt>
                <c:pt idx="99">
                  <c:v>3435</c:v>
                </c:pt>
                <c:pt idx="100">
                  <c:v>6642</c:v>
                </c:pt>
                <c:pt idx="101">
                  <c:v>7767</c:v>
                </c:pt>
                <c:pt idx="102">
                  <c:v>1210</c:v>
                </c:pt>
                <c:pt idx="103">
                  <c:v>8377</c:v>
                </c:pt>
                <c:pt idx="104">
                  <c:v>7668</c:v>
                </c:pt>
                <c:pt idx="105">
                  <c:v>1381</c:v>
                </c:pt>
                <c:pt idx="106">
                  <c:v>5439</c:v>
                </c:pt>
                <c:pt idx="107">
                  <c:v>7115</c:v>
                </c:pt>
                <c:pt idx="108">
                  <c:v>7005</c:v>
                </c:pt>
                <c:pt idx="109">
                  <c:v>1741</c:v>
                </c:pt>
                <c:pt idx="110">
                  <c:v>8723</c:v>
                </c:pt>
                <c:pt idx="111">
                  <c:v>7025</c:v>
                </c:pt>
                <c:pt idx="112">
                  <c:v>5143</c:v>
                </c:pt>
                <c:pt idx="113">
                  <c:v>5303</c:v>
                </c:pt>
                <c:pt idx="114">
                  <c:v>5698</c:v>
                </c:pt>
                <c:pt idx="115">
                  <c:v>3213</c:v>
                </c:pt>
                <c:pt idx="116">
                  <c:v>1367</c:v>
                </c:pt>
                <c:pt idx="117">
                  <c:v>1534</c:v>
                </c:pt>
                <c:pt idx="118">
                  <c:v>7346</c:v>
                </c:pt>
                <c:pt idx="119">
                  <c:v>7704</c:v>
                </c:pt>
                <c:pt idx="120">
                  <c:v>6853</c:v>
                </c:pt>
                <c:pt idx="121">
                  <c:v>1469</c:v>
                </c:pt>
                <c:pt idx="122">
                  <c:v>3179</c:v>
                </c:pt>
                <c:pt idx="123">
                  <c:v>2848</c:v>
                </c:pt>
                <c:pt idx="124">
                  <c:v>7218</c:v>
                </c:pt>
                <c:pt idx="125">
                  <c:v>7367</c:v>
                </c:pt>
                <c:pt idx="126">
                  <c:v>8319</c:v>
                </c:pt>
                <c:pt idx="127">
                  <c:v>7849</c:v>
                </c:pt>
                <c:pt idx="128">
                  <c:v>7436</c:v>
                </c:pt>
                <c:pt idx="129">
                  <c:v>1425</c:v>
                </c:pt>
                <c:pt idx="130">
                  <c:v>7630</c:v>
                </c:pt>
                <c:pt idx="131">
                  <c:v>4245</c:v>
                </c:pt>
                <c:pt idx="132">
                  <c:v>7509</c:v>
                </c:pt>
                <c:pt idx="133">
                  <c:v>6201</c:v>
                </c:pt>
                <c:pt idx="134">
                  <c:v>6918</c:v>
                </c:pt>
                <c:pt idx="135">
                  <c:v>7733</c:v>
                </c:pt>
                <c:pt idx="136">
                  <c:v>2421</c:v>
                </c:pt>
                <c:pt idx="137">
                  <c:v>6452</c:v>
                </c:pt>
                <c:pt idx="138">
                  <c:v>4942</c:v>
                </c:pt>
                <c:pt idx="139">
                  <c:v>1121</c:v>
                </c:pt>
                <c:pt idx="140">
                  <c:v>4934</c:v>
                </c:pt>
                <c:pt idx="141">
                  <c:v>5962</c:v>
                </c:pt>
                <c:pt idx="142">
                  <c:v>2994</c:v>
                </c:pt>
                <c:pt idx="143">
                  <c:v>8485</c:v>
                </c:pt>
                <c:pt idx="144">
                  <c:v>8654</c:v>
                </c:pt>
                <c:pt idx="145">
                  <c:v>3929</c:v>
                </c:pt>
                <c:pt idx="146">
                  <c:v>6039</c:v>
                </c:pt>
                <c:pt idx="147">
                  <c:v>6920</c:v>
                </c:pt>
                <c:pt idx="148">
                  <c:v>5456</c:v>
                </c:pt>
                <c:pt idx="149">
                  <c:v>7478</c:v>
                </c:pt>
                <c:pt idx="150">
                  <c:v>4542</c:v>
                </c:pt>
                <c:pt idx="151">
                  <c:v>3643</c:v>
                </c:pt>
                <c:pt idx="152">
                  <c:v>5101</c:v>
                </c:pt>
                <c:pt idx="153">
                  <c:v>8979</c:v>
                </c:pt>
                <c:pt idx="154">
                  <c:v>7974</c:v>
                </c:pt>
                <c:pt idx="155">
                  <c:v>2199</c:v>
                </c:pt>
                <c:pt idx="156">
                  <c:v>8653</c:v>
                </c:pt>
                <c:pt idx="157">
                  <c:v>6128</c:v>
                </c:pt>
                <c:pt idx="158">
                  <c:v>3224</c:v>
                </c:pt>
                <c:pt idx="159">
                  <c:v>7429</c:v>
                </c:pt>
                <c:pt idx="160">
                  <c:v>1512</c:v>
                </c:pt>
                <c:pt idx="161">
                  <c:v>8123</c:v>
                </c:pt>
                <c:pt idx="162">
                  <c:v>9335</c:v>
                </c:pt>
                <c:pt idx="163">
                  <c:v>6384</c:v>
                </c:pt>
                <c:pt idx="164">
                  <c:v>4852</c:v>
                </c:pt>
                <c:pt idx="165">
                  <c:v>3096</c:v>
                </c:pt>
                <c:pt idx="166">
                  <c:v>6430</c:v>
                </c:pt>
                <c:pt idx="167">
                  <c:v>2495</c:v>
                </c:pt>
                <c:pt idx="168">
                  <c:v>4216</c:v>
                </c:pt>
                <c:pt idx="169">
                  <c:v>1369</c:v>
                </c:pt>
                <c:pt idx="170">
                  <c:v>7328</c:v>
                </c:pt>
                <c:pt idx="171">
                  <c:v>3079</c:v>
                </c:pt>
                <c:pt idx="172">
                  <c:v>6915</c:v>
                </c:pt>
                <c:pt idx="173">
                  <c:v>5796</c:v>
                </c:pt>
                <c:pt idx="174">
                  <c:v>7421</c:v>
                </c:pt>
                <c:pt idx="175">
                  <c:v>5520</c:v>
                </c:pt>
                <c:pt idx="176">
                  <c:v>3925</c:v>
                </c:pt>
                <c:pt idx="177">
                  <c:v>1876</c:v>
                </c:pt>
                <c:pt idx="178">
                  <c:v>6003</c:v>
                </c:pt>
                <c:pt idx="179">
                  <c:v>3420</c:v>
                </c:pt>
                <c:pt idx="180">
                  <c:v>5220</c:v>
                </c:pt>
                <c:pt idx="181">
                  <c:v>893</c:v>
                </c:pt>
                <c:pt idx="182">
                  <c:v>5478</c:v>
                </c:pt>
                <c:pt idx="183">
                  <c:v>8945</c:v>
                </c:pt>
                <c:pt idx="184">
                  <c:v>6052</c:v>
                </c:pt>
                <c:pt idx="185">
                  <c:v>6361</c:v>
                </c:pt>
                <c:pt idx="186">
                  <c:v>1660</c:v>
                </c:pt>
                <c:pt idx="187">
                  <c:v>8463</c:v>
                </c:pt>
                <c:pt idx="188">
                  <c:v>4214</c:v>
                </c:pt>
                <c:pt idx="189">
                  <c:v>5491</c:v>
                </c:pt>
                <c:pt idx="190">
                  <c:v>9254</c:v>
                </c:pt>
                <c:pt idx="191">
                  <c:v>1309</c:v>
                </c:pt>
                <c:pt idx="192">
                  <c:v>4847</c:v>
                </c:pt>
                <c:pt idx="193">
                  <c:v>8632</c:v>
                </c:pt>
                <c:pt idx="194">
                  <c:v>2726</c:v>
                </c:pt>
                <c:pt idx="195">
                  <c:v>8292</c:v>
                </c:pt>
                <c:pt idx="196">
                  <c:v>5753</c:v>
                </c:pt>
                <c:pt idx="197">
                  <c:v>8360</c:v>
                </c:pt>
                <c:pt idx="198">
                  <c:v>9118</c:v>
                </c:pt>
                <c:pt idx="199">
                  <c:v>4788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1AD-4FCA-82BE-BCBFB4562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35621631"/>
        <c:axId val="2135627871"/>
      </c:scatterChart>
      <c:valAx>
        <c:axId val="2135621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Ad Spend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$-409]#,##0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627871"/>
        <c:crosses val="autoZero"/>
        <c:crossBetween val="midCat"/>
      </c:valAx>
      <c:valAx>
        <c:axId val="2135627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Net Follower Gain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5621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98A3-5DAA-62B5-2234-F1F54ABAD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F9F5F-C39C-A075-502B-124AF9C46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64130-1B68-B5FA-508D-44585C98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91DC6-87B4-BDA8-0651-72A357D9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2A5A1-643A-BAB4-E120-BF78AD41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7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C456-88AA-0D72-7D8F-D27773C3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BFE26-04B8-5D43-B1C9-D364FFA9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3BAB-4780-BBED-D00F-A390DB0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EA3AD-A1C6-2CD9-5DA2-C708CEE4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FBEFC-53A5-BF5D-8248-23018DC0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8B6F-5537-7701-75E1-EDA7CE80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EE9C2-CAEB-527A-4124-F5179F117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A0C6-AF0D-0F78-753F-7C20FE71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E628-553F-8CDE-94DC-81207A86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F0F0C-B635-201A-4BAD-5133F89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03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B3EE-74BF-7D32-92C7-B874043C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25D6-81E9-2D4E-1250-F09A510FA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0F309-1247-950E-9F91-3B473BCB3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19EB0-AB0F-220D-6E14-F2AD5107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7DC73-AE5D-9138-2FDC-5EF9F62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23E4C-AB10-C633-78F0-F98C7B24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C24F-2C6F-1ABE-3F1D-8417CF84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D6045-D683-EFB2-AE8B-786E9C05B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775B-6D72-BE7D-888C-F58F4F5AB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8E778-A293-F53D-A095-E9E5FF8B0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A70551-4F6A-D59B-0195-F498DFCC6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4087C-252B-903F-A6BB-FC5E8593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EB9EF-D9D0-0AEA-5B2F-B37CB4B1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4BCCC-EF01-A7C3-2487-366D8023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8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E40B-9285-78A2-BA29-3F021CA1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DC51B-1AF6-BE70-AA89-342B37A2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056DE-A900-0066-CA40-41A757DF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C5A7A-4D3A-0ACF-DF5C-44FF042A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07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AF14C-E4FE-D2BA-C671-7A1C8CD1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97A8D-695A-EE90-C183-7BB03E45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46BAF-AAB4-284F-21A0-B477CCC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19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69A3-0A3E-D9CE-0942-1AADBD21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5ABA-637F-E145-CA7E-9EA54C34C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2325F-CDCB-C48E-5B5E-290BCC44A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946E7-CEAD-4E3C-6F99-B7E66849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F66F1-0029-3DB1-67C6-7BADC8CC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12559-B32C-6615-0E84-B0A92C40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00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A88F-C4B4-E67C-52D6-8CF20FFD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BCCF8-FC4C-DB47-5834-BAF2D7AB9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29EBF-E59A-D8E8-6DE8-4BB0503BF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60B93-7C24-2700-BB46-286ACE2C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1F9B9-24A1-D53E-B406-EDC1AC30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AF9F3-6F09-26EF-FDBD-2A77A945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7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50B1-C274-30EC-2678-39ED68EEE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1EDC3-BFED-393E-91B0-FD3FDE580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40230-1308-4403-CB8C-1EB2C6F0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4FD59-D70E-B3CE-F181-9571F743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0FA6-45A1-8283-E7B6-88DE023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8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81CC6-62F2-9D86-FEB8-D8716772E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897A4-FCC9-8AC9-CFB4-432B3B814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CA2E9-C0D9-ABDD-E5D7-E3799C2E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3D86B-5A9C-8531-C8E8-6B06997B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F345-6D28-CCC2-016F-065CED11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38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DD4AF-C085-0B6F-44A2-1D8FE961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F9C63-84BC-7DF5-6F6E-4B009576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E459A-364B-5DA5-557E-1079B03B4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A4FA6-5956-405F-A129-ED16596E8614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B5C0-61DA-DA5C-8D2C-CE3D0059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8AC2-45A3-78D8-5648-891F7542E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3B3CB-C185-4BC2-BF4F-1D0D18734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53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555B-772F-7AF4-BFC3-00EE9BF9F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6925"/>
            <a:ext cx="9144000" cy="295275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IN" sz="72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Apple Social Media Analytics for Strategic Branding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703B0-BEA8-FC25-15A0-EA7CB7F8A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9700"/>
            <a:ext cx="9144000" cy="13335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3600" b="1" dirty="0">
                <a:solidFill>
                  <a:schemeClr val="tx2"/>
                </a:solidFill>
              </a:rPr>
              <a:t>Key Findings &amp; Data-Backed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23520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EE6E-46D2-7138-59C3-4232DDD7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9768"/>
            <a:ext cx="10515600" cy="2012007"/>
          </a:xfrm>
        </p:spPr>
        <p:txBody>
          <a:bodyPr/>
          <a:lstStyle/>
          <a:p>
            <a:pPr algn="ctr"/>
            <a:r>
              <a:rPr lang="en-IN" b="1" dirty="0"/>
              <a:t>Engagement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CDFF-E9FA-B38E-5927-866CEF07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239"/>
            <a:ext cx="12192000" cy="544576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Aft>
                <a:spcPts val="400"/>
              </a:spcAft>
              <a:buNone/>
            </a:pPr>
            <a:endParaRPr lang="en-IN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b="1" dirty="0"/>
              <a:t>Platform Engagement Insights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 b="1" dirty="0"/>
              <a:t>Twitter has the highest engagement rate (13.89%)</a:t>
            </a:r>
            <a:r>
              <a:rPr lang="en-GB" sz="1500" dirty="0"/>
              <a:t>, making it the strongest platform for interaction.</a:t>
            </a:r>
            <a:br>
              <a:rPr lang="en-GB" sz="1500" dirty="0"/>
            </a:br>
            <a:r>
              <a:rPr lang="en-GB" sz="1500" b="1" dirty="0"/>
              <a:t>LinkedIn (12.41%) and Instagram (11.78%) show stable engagement</a:t>
            </a:r>
            <a:r>
              <a:rPr lang="en-GB" sz="1500" dirty="0"/>
              <a:t>, proving Apple’s audience is active across both professional and visual channels.</a:t>
            </a:r>
            <a:br>
              <a:rPr lang="en-GB" sz="1500" dirty="0"/>
            </a:br>
            <a:r>
              <a:rPr lang="en-GB" sz="1500" b="1" dirty="0"/>
              <a:t>YouTube has the lowest engagement (11.22%)</a:t>
            </a:r>
            <a:r>
              <a:rPr lang="en-GB" sz="1500" dirty="0"/>
              <a:t>, indicating video posts need better optimization or promotion.</a:t>
            </a:r>
            <a:br>
              <a:rPr lang="en-GB" sz="1500" dirty="0"/>
            </a:br>
            <a:r>
              <a:rPr lang="en-GB" sz="1500" dirty="0"/>
              <a:t>Overall, </a:t>
            </a:r>
            <a:r>
              <a:rPr lang="en-GB" sz="1500" b="1" dirty="0"/>
              <a:t>all platforms show strong and consistent engagement</a:t>
            </a:r>
            <a:r>
              <a:rPr lang="en-GB" sz="1500" dirty="0"/>
              <a:t>, with only a small difference between the best and lowest performers.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500" b="1" dirty="0"/>
              <a:t>Top Hashtag Engagement Insights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500" b="1" dirty="0"/>
              <a:t>#ShotOnIPhone leads with 15.33% engagement</a:t>
            </a:r>
            <a:r>
              <a:rPr lang="en-IN" sz="1500" dirty="0"/>
              <a:t>, driven by user-generated photo content.</a:t>
            </a:r>
            <a:br>
              <a:rPr lang="en-IN" sz="1500" dirty="0"/>
            </a:br>
            <a:r>
              <a:rPr lang="en-IN" sz="1500" b="1" dirty="0"/>
              <a:t>#AppleWatchUltra2 + #HealthTech (14.38%) also perform strongly</a:t>
            </a:r>
            <a:r>
              <a:rPr lang="en-IN" sz="1500" dirty="0"/>
              <a:t>, showing high interest in Apple’s health and fitness ecosystem.</a:t>
            </a:r>
            <a:br>
              <a:rPr lang="en-IN" sz="1500" dirty="0"/>
            </a:br>
            <a:r>
              <a:rPr lang="en-IN" sz="1500" b="1" dirty="0"/>
              <a:t>#AppleMusic + #AppleLifestyle (13.49%)</a:t>
            </a:r>
            <a:r>
              <a:rPr lang="en-IN" sz="1500" dirty="0"/>
              <a:t> get solid engagement from lifestyle and ecosystem-based content.</a:t>
            </a:r>
            <a:br>
              <a:rPr lang="en-IN" sz="1500" dirty="0"/>
            </a:br>
            <a:r>
              <a:rPr lang="en-IN" sz="1500" b="1" dirty="0"/>
              <a:t>#AppleEvent + #iPhone16 (12.60%)</a:t>
            </a:r>
            <a:r>
              <a:rPr lang="en-IN" sz="1500" dirty="0"/>
              <a:t> show stable interest in product launches and events.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1D9223-3112-586E-7CB1-BC45056266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2584855"/>
              </p:ext>
            </p:extLst>
          </p:nvPr>
        </p:nvGraphicFramePr>
        <p:xfrm>
          <a:off x="263012" y="911691"/>
          <a:ext cx="5545394" cy="2977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6BEF573-86DF-F97D-4EFC-BF5E8E0ADE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7072231"/>
              </p:ext>
            </p:extLst>
          </p:nvPr>
        </p:nvGraphicFramePr>
        <p:xfrm>
          <a:off x="6383594" y="872034"/>
          <a:ext cx="5545394" cy="2977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067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685E-EEA9-5FDB-D0C1-DE81B445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8079"/>
          </a:xfrm>
        </p:spPr>
        <p:txBody>
          <a:bodyPr/>
          <a:lstStyle/>
          <a:p>
            <a:pPr algn="ctr"/>
            <a:r>
              <a:rPr lang="en-IN" b="1" dirty="0"/>
              <a:t>Platform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6B34-7BEC-7AF0-9563-F96A3F12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2076449"/>
            <a:ext cx="11221720" cy="47815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Follower Growth Rate Insights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YouTube shows the highest follower growth (1.42%)</a:t>
            </a:r>
            <a:r>
              <a:rPr lang="en-GB" sz="1400" dirty="0"/>
              <a:t>, indicating strong audience expansion through video content.</a:t>
            </a:r>
            <a:br>
              <a:rPr lang="en-GB" sz="1400" dirty="0"/>
            </a:br>
            <a:r>
              <a:rPr lang="en-GB" sz="1400" b="1" dirty="0"/>
              <a:t>Twitter follows closely (1.38%)</a:t>
            </a:r>
            <a:r>
              <a:rPr lang="en-GB" sz="1400" dirty="0"/>
              <a:t>, supported by high engagement and fast-paced updates.</a:t>
            </a:r>
            <a:br>
              <a:rPr lang="en-GB" sz="1400" dirty="0"/>
            </a:br>
            <a:r>
              <a:rPr lang="en-GB" sz="1400" b="1" dirty="0"/>
              <a:t>Instagram grows steadily (1.20%)</a:t>
            </a:r>
            <a:r>
              <a:rPr lang="en-GB" sz="1400" dirty="0"/>
              <a:t>, reflecting strong visual appeal but slower growth compared to YouTube/Twitter.</a:t>
            </a:r>
            <a:br>
              <a:rPr lang="en-GB" sz="1400" dirty="0"/>
            </a:br>
            <a:r>
              <a:rPr lang="en-GB" sz="1400" b="1" dirty="0"/>
              <a:t>LinkedIn has the lowest growth (0.94%)</a:t>
            </a:r>
            <a:r>
              <a:rPr lang="en-GB" sz="1400" dirty="0"/>
              <a:t>, suggesting slower audience expansion on professional platforms.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Ad Spend per Engagement Insights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 b="1" dirty="0"/>
              <a:t>YouTube gives the best cost efficiency ($1783 per engagement)</a:t>
            </a:r>
            <a:r>
              <a:rPr lang="en-GB" sz="1400" dirty="0"/>
              <a:t> — highest growth + lowest cost = best ROI.</a:t>
            </a:r>
            <a:br>
              <a:rPr lang="en-GB" sz="1400" dirty="0"/>
            </a:br>
            <a:r>
              <a:rPr lang="en-GB" sz="1400" b="1" dirty="0"/>
              <a:t>Twitter also performs well ($2023)</a:t>
            </a:r>
            <a:r>
              <a:rPr lang="en-GB" sz="1400" dirty="0"/>
              <a:t>, balancing good engagement with moderate cost.</a:t>
            </a:r>
            <a:br>
              <a:rPr lang="en-GB" sz="1400" dirty="0"/>
            </a:br>
            <a:r>
              <a:rPr lang="en-GB" sz="1400" b="1" dirty="0"/>
              <a:t>Instagram is costlier ($2238)</a:t>
            </a:r>
            <a:r>
              <a:rPr lang="en-GB" sz="1400" dirty="0"/>
              <a:t> for each engagement, lowering ROI slightly.</a:t>
            </a:r>
            <a:br>
              <a:rPr lang="en-GB" sz="1400" dirty="0"/>
            </a:br>
            <a:r>
              <a:rPr lang="en-GB" sz="1400" b="1" dirty="0"/>
              <a:t>LinkedIn is the most expensive ($2573)</a:t>
            </a:r>
            <a:r>
              <a:rPr lang="en-GB" sz="1400" dirty="0"/>
              <a:t> with slower growth, making it the </a:t>
            </a:r>
            <a:r>
              <a:rPr lang="en-GB" sz="1400" b="1" dirty="0"/>
              <a:t>least cost-effective platform</a:t>
            </a:r>
            <a:r>
              <a:rPr lang="en-GB" sz="1400" dirty="0"/>
              <a:t>.</a:t>
            </a:r>
          </a:p>
          <a:p>
            <a:pPr marL="0" indent="0">
              <a:buNone/>
            </a:pPr>
            <a:endParaRPr lang="en-GB" sz="1200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66FD5E0-EFDE-C93F-7616-DA8D103949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1906899"/>
              </p:ext>
            </p:extLst>
          </p:nvPr>
        </p:nvGraphicFramePr>
        <p:xfrm>
          <a:off x="449580" y="1148080"/>
          <a:ext cx="56464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C7454C-6949-C5C3-5AF8-8C6ADA9649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0167189"/>
              </p:ext>
            </p:extLst>
          </p:nvPr>
        </p:nvGraphicFramePr>
        <p:xfrm>
          <a:off x="6360160" y="1066800"/>
          <a:ext cx="5831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4735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F8D-5BAE-8EDC-0DED-45F6BE9B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2481"/>
          </a:xfrm>
        </p:spPr>
        <p:txBody>
          <a:bodyPr/>
          <a:lstStyle/>
          <a:p>
            <a:pPr algn="ctr"/>
            <a:r>
              <a:rPr lang="en-IN" b="1" dirty="0"/>
              <a:t>Platform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FD21-D4EF-3E9C-C546-146C4CB54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3429000"/>
            <a:ext cx="6019800" cy="3428999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Instagram – Best for Health &amp; Brand Storytelling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13.68%</a:t>
            </a:r>
            <a:r>
              <a:rPr lang="en-GB" sz="2000" dirty="0"/>
              <a:t> engagement for Health &amp; Fitness (highest on Instagram).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13.19%</a:t>
            </a:r>
            <a:r>
              <a:rPr lang="en-GB" sz="2000" dirty="0"/>
              <a:t> for Brand Engagement.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dirty="0"/>
              <a:t>Lower engagement for product campaigns (</a:t>
            </a:r>
            <a:r>
              <a:rPr lang="en-GB" sz="2000" b="1" dirty="0"/>
              <a:t>9.5–9.6%</a:t>
            </a:r>
            <a:r>
              <a:rPr lang="en-GB" sz="2000" dirty="0"/>
              <a:t>).</a:t>
            </a:r>
            <a:br>
              <a:rPr lang="en-GB" sz="2000" dirty="0"/>
            </a:br>
            <a:r>
              <a:rPr lang="en-GB" sz="2000" b="1" dirty="0"/>
              <a:t>Works best for lifestyle, fitness, and brand-focused content.</a:t>
            </a:r>
            <a:br>
              <a:rPr lang="en-GB" sz="2000" dirty="0"/>
            </a:br>
            <a:endParaRPr lang="en-GB" sz="20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 LinkedIn – Strong for Product &amp; Professional Content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14.41%</a:t>
            </a:r>
            <a:r>
              <a:rPr lang="en-GB" sz="2000" dirty="0"/>
              <a:t> for Health &amp; Fitness Awareness (highest on LinkedIn).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12.84%</a:t>
            </a:r>
            <a:r>
              <a:rPr lang="en-GB" sz="2000" dirty="0"/>
              <a:t> for Product Launch (iPhone 16).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b="1" dirty="0"/>
              <a:t>12.48%</a:t>
            </a:r>
            <a:r>
              <a:rPr lang="en-GB" sz="2000" dirty="0"/>
              <a:t> for Product Promotion (MacBook M3).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000" dirty="0"/>
              <a:t>Lower for sustainability (</a:t>
            </a:r>
            <a:r>
              <a:rPr lang="en-GB" sz="2000" b="1" dirty="0"/>
              <a:t>10.21%</a:t>
            </a:r>
            <a:r>
              <a:rPr lang="en-GB" sz="2000" dirty="0"/>
              <a:t>) and brand (</a:t>
            </a:r>
            <a:r>
              <a:rPr lang="en-GB" sz="2000" b="1" dirty="0"/>
              <a:t>11.21%</a:t>
            </a:r>
            <a:r>
              <a:rPr lang="en-GB" sz="2000" dirty="0"/>
              <a:t>).</a:t>
            </a:r>
            <a:br>
              <a:rPr lang="en-GB" sz="2000" dirty="0"/>
            </a:br>
            <a:r>
              <a:rPr lang="en-GB" sz="2000" b="1" dirty="0"/>
              <a:t>Best for tech, product, and professional campaigns.</a:t>
            </a:r>
            <a:endParaRPr lang="en-GB" sz="2000" dirty="0"/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641D5-E8F8-45C7-3971-13C61E18D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3429000"/>
            <a:ext cx="6019799" cy="34289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2000" b="1" dirty="0"/>
              <a:t>Twitter – Highest Engagement Across Most Objectives</a:t>
            </a:r>
          </a:p>
          <a:p>
            <a:pPr marL="0" indent="0">
              <a:buNone/>
            </a:pPr>
            <a:r>
              <a:rPr lang="en-GB" sz="2000" b="1" dirty="0"/>
              <a:t>14.86%</a:t>
            </a:r>
            <a:r>
              <a:rPr lang="en-GB" sz="2000" dirty="0"/>
              <a:t> for Brand Engagement (highest overall).</a:t>
            </a:r>
          </a:p>
          <a:p>
            <a:pPr marL="0" indent="0">
              <a:buNone/>
            </a:pPr>
            <a:r>
              <a:rPr lang="en-GB" sz="2000" b="1" dirty="0"/>
              <a:t>14.31%</a:t>
            </a:r>
            <a:r>
              <a:rPr lang="en-GB" sz="2000" dirty="0"/>
              <a:t> for Health &amp; Fitness.</a:t>
            </a:r>
          </a:p>
          <a:p>
            <a:pPr marL="0" indent="0">
              <a:buNone/>
            </a:pPr>
            <a:r>
              <a:rPr lang="en-GB" sz="2000" b="1" dirty="0"/>
              <a:t>14.43%</a:t>
            </a:r>
            <a:r>
              <a:rPr lang="en-GB" sz="2000" dirty="0"/>
              <a:t> for Product Promotion.</a:t>
            </a:r>
          </a:p>
          <a:p>
            <a:pPr marL="0" indent="0">
              <a:buNone/>
            </a:pPr>
            <a:r>
              <a:rPr lang="en-GB" sz="2000" b="1" dirty="0"/>
              <a:t>13.53%</a:t>
            </a:r>
            <a:r>
              <a:rPr lang="en-GB" sz="2000" dirty="0"/>
              <a:t> for Product Launch.</a:t>
            </a:r>
            <a:br>
              <a:rPr lang="en-GB" sz="2000" dirty="0"/>
            </a:br>
            <a:r>
              <a:rPr lang="en-GB" sz="2000" b="1" dirty="0"/>
              <a:t>Twitter performs the strongest across nearly every campaign type.</a:t>
            </a:r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 YouTube – Good for Product Launches</a:t>
            </a:r>
          </a:p>
          <a:p>
            <a:pPr marL="0" indent="0">
              <a:buNone/>
            </a:pPr>
            <a:r>
              <a:rPr lang="en-GB" sz="2000" b="1" dirty="0"/>
              <a:t>12.00%</a:t>
            </a:r>
            <a:r>
              <a:rPr lang="en-GB" sz="2000" dirty="0"/>
              <a:t> for Product Launch (iPhone 16).</a:t>
            </a:r>
          </a:p>
          <a:p>
            <a:pPr marL="0" indent="0">
              <a:buNone/>
            </a:pPr>
            <a:r>
              <a:rPr lang="en-GB" sz="2000" b="1" dirty="0"/>
              <a:t>11.56%</a:t>
            </a:r>
            <a:r>
              <a:rPr lang="en-GB" sz="2000" dirty="0"/>
              <a:t> for Product Promotion.</a:t>
            </a:r>
          </a:p>
          <a:p>
            <a:pPr marL="0" indent="0">
              <a:buNone/>
            </a:pPr>
            <a:r>
              <a:rPr lang="en-GB" sz="2000" b="1" dirty="0"/>
              <a:t>11.97%</a:t>
            </a:r>
            <a:r>
              <a:rPr lang="en-GB" sz="2000" dirty="0"/>
              <a:t> for Health &amp; Fitness.</a:t>
            </a:r>
          </a:p>
          <a:p>
            <a:pPr marL="0" indent="0">
              <a:buNone/>
            </a:pPr>
            <a:r>
              <a:rPr lang="en-GB" sz="2000" dirty="0"/>
              <a:t>Lower for brand (</a:t>
            </a:r>
            <a:r>
              <a:rPr lang="en-GB" sz="2000" b="1" dirty="0"/>
              <a:t>10.38%</a:t>
            </a:r>
            <a:r>
              <a:rPr lang="en-GB" sz="2000" dirty="0"/>
              <a:t>) and sustainability (</a:t>
            </a:r>
            <a:r>
              <a:rPr lang="en-GB" sz="2000" b="1" dirty="0"/>
              <a:t>10.50%</a:t>
            </a:r>
            <a:r>
              <a:rPr lang="en-GB" sz="2000" dirty="0"/>
              <a:t>).</a:t>
            </a:r>
            <a:br>
              <a:rPr lang="en-GB" sz="2000" dirty="0"/>
            </a:br>
            <a:r>
              <a:rPr lang="en-GB" sz="2000" b="1" dirty="0"/>
              <a:t>Best for launch videos and product-driven content.</a:t>
            </a:r>
            <a:endParaRPr lang="en-GB" sz="2000" dirty="0"/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3E73EAC-3AD4-EA13-F960-D36BEC9A9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166828"/>
              </p:ext>
            </p:extLst>
          </p:nvPr>
        </p:nvGraphicFramePr>
        <p:xfrm>
          <a:off x="2009139" y="698182"/>
          <a:ext cx="8326120" cy="2616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0821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0921-C179-33B7-E116-63E0F2B4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A7A7-ABEE-C8F8-F050-E38A6FD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8079"/>
          </a:xfrm>
        </p:spPr>
        <p:txBody>
          <a:bodyPr/>
          <a:lstStyle/>
          <a:p>
            <a:pPr algn="ctr"/>
            <a:r>
              <a:rPr lang="en-IN" b="1" dirty="0"/>
              <a:t>Hashtag &amp; Content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C750-BAF2-E031-8451-E42E9E338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05124"/>
            <a:ext cx="12192000" cy="46767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100" b="1" dirty="0"/>
              <a:t>Hashtag Strategy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100" b="1" dirty="0"/>
              <a:t>High-engagement hashtags (#ShotOnIPhone, #HealthTech, #AppleLifestyle)</a:t>
            </a:r>
            <a:r>
              <a:rPr lang="en-IN" sz="2100" dirty="0"/>
              <a:t> deliver the strongest results → use them more frequently.</a:t>
            </a:r>
            <a:br>
              <a:rPr lang="en-IN" sz="2100" dirty="0"/>
            </a:br>
            <a:r>
              <a:rPr lang="en-IN" sz="2100" b="1" dirty="0"/>
              <a:t>Event-based hashtags (#AppleEvent, #iPhone16)</a:t>
            </a:r>
            <a:r>
              <a:rPr lang="en-IN" sz="2100" dirty="0"/>
              <a:t> show moderate but consistent engagement → use during launches &amp; announcements.</a:t>
            </a:r>
            <a:br>
              <a:rPr lang="en-IN" sz="2100" dirty="0"/>
            </a:br>
            <a:r>
              <a:rPr lang="en-IN" sz="2100" b="1" dirty="0"/>
              <a:t>Product-specific hashtags (#MacBookAirM3, #iPadPro, #Innovation)</a:t>
            </a:r>
            <a:r>
              <a:rPr lang="en-IN" sz="2100" dirty="0"/>
              <a:t> vary in performance → use selectively with strong visuals.</a:t>
            </a:r>
            <a:br>
              <a:rPr lang="en-IN" sz="2100" dirty="0"/>
            </a:br>
            <a:r>
              <a:rPr lang="en-IN" sz="2100" b="1" dirty="0"/>
              <a:t>Avoid weak hashtags (low engagement + low usage)</a:t>
            </a:r>
            <a:r>
              <a:rPr lang="en-IN" sz="2100" dirty="0"/>
              <a:t> to keep the strategy focused and clean.</a:t>
            </a:r>
          </a:p>
          <a:p>
            <a:pPr marL="0" indent="0">
              <a:lnSpc>
                <a:spcPct val="134000"/>
              </a:lnSpc>
              <a:spcAft>
                <a:spcPts val="400"/>
              </a:spcAft>
              <a:buNone/>
            </a:pPr>
            <a:endParaRPr lang="en-IN" sz="2100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65C87E1-594C-D5DF-C535-7DC9B84CEC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8916226"/>
              </p:ext>
            </p:extLst>
          </p:nvPr>
        </p:nvGraphicFramePr>
        <p:xfrm>
          <a:off x="-1" y="863600"/>
          <a:ext cx="12191999" cy="395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830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5F73-531C-90ED-8AD2-EFC439AB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3850"/>
            <a:ext cx="10515600" cy="1276350"/>
          </a:xfrm>
        </p:spPr>
        <p:txBody>
          <a:bodyPr/>
          <a:lstStyle/>
          <a:p>
            <a:pPr algn="ctr"/>
            <a:r>
              <a:rPr lang="en-IN" b="1" dirty="0"/>
              <a:t>Hashtag &amp; Content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F06D-63C1-3019-50D9-3FC0B74E3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3520440"/>
            <a:ext cx="6019801" cy="3337559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b="1" dirty="0"/>
              <a:t>Video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Highest engagement for </a:t>
            </a:r>
            <a:r>
              <a:rPr lang="en-IN" sz="2900" b="1" dirty="0"/>
              <a:t>Health &amp; Fitness</a:t>
            </a:r>
            <a:r>
              <a:rPr lang="en-IN" sz="2900" dirty="0"/>
              <a:t> → </a:t>
            </a:r>
            <a:r>
              <a:rPr lang="en-IN" sz="2900" b="1" dirty="0"/>
              <a:t>16.66%</a:t>
            </a:r>
            <a:endParaRPr lang="en-IN" sz="29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Strong for </a:t>
            </a:r>
            <a:r>
              <a:rPr lang="en-IN" sz="2900" b="1" dirty="0"/>
              <a:t>Sustainability</a:t>
            </a:r>
            <a:r>
              <a:rPr lang="en-IN" sz="2900" dirty="0"/>
              <a:t> → </a:t>
            </a:r>
            <a:r>
              <a:rPr lang="en-IN" sz="2900" b="1" dirty="0"/>
              <a:t>14.67%</a:t>
            </a:r>
            <a:endParaRPr lang="en-IN" sz="29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Strong for </a:t>
            </a:r>
            <a:r>
              <a:rPr lang="en-IN" sz="2900" b="1" dirty="0"/>
              <a:t>Brand Engagement</a:t>
            </a:r>
            <a:r>
              <a:rPr lang="en-IN" sz="2900" dirty="0"/>
              <a:t> → </a:t>
            </a:r>
            <a:r>
              <a:rPr lang="en-IN" sz="2900" b="1" dirty="0"/>
              <a:t>13.27%</a:t>
            </a:r>
            <a:br>
              <a:rPr lang="en-IN" sz="2900" dirty="0"/>
            </a:br>
            <a:r>
              <a:rPr lang="en-IN" sz="2900" b="1" dirty="0"/>
              <a:t>Best for awareness-driven campaigns.</a:t>
            </a:r>
            <a:br>
              <a:rPr lang="en-IN" sz="2900" dirty="0"/>
            </a:br>
            <a:endParaRPr lang="en-IN" sz="29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b="1" dirty="0"/>
              <a:t>Carousel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High for </a:t>
            </a:r>
            <a:r>
              <a:rPr lang="en-IN" sz="2900" b="1" dirty="0"/>
              <a:t>Product Promotion (MacBook M3)</a:t>
            </a:r>
            <a:r>
              <a:rPr lang="en-IN" sz="2900" dirty="0"/>
              <a:t> → </a:t>
            </a:r>
            <a:r>
              <a:rPr lang="en-IN" sz="2900" b="1" dirty="0"/>
              <a:t>13.82%</a:t>
            </a:r>
            <a:endParaRPr lang="en-IN" sz="29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High for </a:t>
            </a:r>
            <a:r>
              <a:rPr lang="en-IN" sz="2900" b="1" dirty="0"/>
              <a:t>Product Launch (iPhone 16)</a:t>
            </a:r>
            <a:r>
              <a:rPr lang="en-IN" sz="2900" dirty="0"/>
              <a:t> → </a:t>
            </a:r>
            <a:r>
              <a:rPr lang="en-IN" sz="2900" b="1" dirty="0"/>
              <a:t>13.30%</a:t>
            </a:r>
            <a:endParaRPr lang="en-IN" sz="29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900" dirty="0"/>
              <a:t>Strong for </a:t>
            </a:r>
            <a:r>
              <a:rPr lang="en-IN" sz="2900" b="1" dirty="0"/>
              <a:t>Health &amp; Fitness</a:t>
            </a:r>
            <a:r>
              <a:rPr lang="en-IN" sz="2900" dirty="0"/>
              <a:t> → </a:t>
            </a:r>
            <a:r>
              <a:rPr lang="en-IN" sz="2900" b="1" dirty="0"/>
              <a:t>14.43%</a:t>
            </a:r>
            <a:br>
              <a:rPr lang="en-IN" sz="2900" dirty="0"/>
            </a:br>
            <a:r>
              <a:rPr lang="en-IN" sz="2900" b="1" dirty="0"/>
              <a:t>Best for product showcases &amp; detailed storytelling.</a:t>
            </a:r>
            <a:endParaRPr lang="en-IN" sz="2900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B8285-EF29-B323-FE79-9FEC0FA8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520440"/>
            <a:ext cx="6019800" cy="3337559"/>
          </a:xfrm>
        </p:spPr>
        <p:txBody>
          <a:bodyPr>
            <a:noAutofit/>
          </a:bodyPr>
          <a:lstStyle/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b="1" dirty="0"/>
              <a:t>Image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dirty="0"/>
              <a:t>Good for </a:t>
            </a:r>
            <a:r>
              <a:rPr lang="en-IN" sz="1400" b="1" dirty="0"/>
              <a:t>Brand Engagement</a:t>
            </a:r>
            <a:r>
              <a:rPr lang="en-IN" sz="1400" dirty="0"/>
              <a:t> → </a:t>
            </a:r>
            <a:r>
              <a:rPr lang="en-IN" sz="1400" b="1" dirty="0"/>
              <a:t>12.99%</a:t>
            </a:r>
            <a:endParaRPr lang="en-IN" sz="14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dirty="0"/>
              <a:t>Solid for </a:t>
            </a:r>
            <a:r>
              <a:rPr lang="en-IN" sz="1400" b="1" dirty="0"/>
              <a:t>Product Launch</a:t>
            </a:r>
            <a:r>
              <a:rPr lang="en-IN" sz="1400" dirty="0"/>
              <a:t> → </a:t>
            </a:r>
            <a:r>
              <a:rPr lang="en-IN" sz="1400" b="1" dirty="0"/>
              <a:t>11.58%</a:t>
            </a:r>
            <a:endParaRPr lang="en-IN" sz="14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dirty="0"/>
              <a:t>Moderate for </a:t>
            </a:r>
            <a:r>
              <a:rPr lang="en-IN" sz="1400" b="1" dirty="0"/>
              <a:t>Health &amp; Fitness</a:t>
            </a:r>
            <a:r>
              <a:rPr lang="en-IN" sz="1400" dirty="0"/>
              <a:t> → </a:t>
            </a:r>
            <a:r>
              <a:rPr lang="en-IN" sz="1400" b="1" dirty="0"/>
              <a:t>11.27%</a:t>
            </a:r>
            <a:br>
              <a:rPr lang="en-IN" sz="1400" dirty="0"/>
            </a:br>
            <a:r>
              <a:rPr lang="en-IN" sz="1400" b="1" dirty="0"/>
              <a:t>Best for quick announcements &amp; visual branding.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14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b="1" dirty="0"/>
              <a:t>Tweet / Text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dirty="0"/>
              <a:t>Consistent but lower engagement → </a:t>
            </a:r>
            <a:r>
              <a:rPr lang="en-IN" sz="1400" b="1" dirty="0"/>
              <a:t>10–12%</a:t>
            </a:r>
            <a:endParaRPr lang="en-IN" sz="14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b="1" dirty="0"/>
              <a:t>Best for updates, reminders &amp; light communication.</a:t>
            </a:r>
            <a:endParaRPr lang="en-IN" sz="14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7E0F8B-CC27-149F-D7C5-3B83F2326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1449848"/>
              </p:ext>
            </p:extLst>
          </p:nvPr>
        </p:nvGraphicFramePr>
        <p:xfrm>
          <a:off x="3009900" y="670560"/>
          <a:ext cx="5928360" cy="2758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781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302E-AADE-8FA4-3F35-7EC5D4AC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F6C4-9AA6-537C-6051-6BEB3DD4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8079"/>
          </a:xfrm>
        </p:spPr>
        <p:txBody>
          <a:bodyPr/>
          <a:lstStyle/>
          <a:p>
            <a:pPr algn="ctr"/>
            <a:r>
              <a:rPr lang="en-IN" b="1" dirty="0"/>
              <a:t>Hashtag &amp; Content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C604-2D0A-9673-D9BC-0FAD7835E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1040"/>
            <a:ext cx="12192000" cy="71932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500" b="1" dirty="0"/>
              <a:t>Content Strategy</a:t>
            </a:r>
          </a:p>
          <a:p>
            <a:pPr marL="0" indent="0">
              <a:buNone/>
            </a:pPr>
            <a:r>
              <a:rPr lang="en-IN" sz="1500" b="1" dirty="0"/>
              <a:t>1. Content vs Platform Insights</a:t>
            </a:r>
          </a:p>
          <a:p>
            <a:pPr marL="0" indent="0">
              <a:buNone/>
            </a:pPr>
            <a:r>
              <a:rPr lang="en-IN" sz="1500" b="1" dirty="0"/>
              <a:t>Video performs best on LinkedIn &amp; Instagram</a:t>
            </a:r>
            <a:r>
              <a:rPr lang="en-IN" sz="1500" dirty="0"/>
              <a:t>, showing strong audience interest in demonstrations and product explainers.</a:t>
            </a:r>
            <a:br>
              <a:rPr lang="en-IN" sz="1500" dirty="0"/>
            </a:br>
            <a:r>
              <a:rPr lang="en-IN" sz="1500" b="1" dirty="0"/>
              <a:t>Images get the highest engagement on Twitter</a:t>
            </a:r>
            <a:r>
              <a:rPr lang="en-IN" sz="1500" dirty="0"/>
              <a:t>, especially with crisp visuals and announcements.</a:t>
            </a:r>
            <a:br>
              <a:rPr lang="en-IN" sz="1500" dirty="0"/>
            </a:br>
            <a:r>
              <a:rPr lang="en-IN" sz="1500" b="1" dirty="0"/>
              <a:t>Carousel performs well on Twitter &amp;Instagram</a:t>
            </a:r>
            <a:r>
              <a:rPr lang="en-IN" sz="1500" dirty="0"/>
              <a:t>, since multi-slide visuals hold attention longer.</a:t>
            </a:r>
            <a:br>
              <a:rPr lang="en-IN" sz="1500" dirty="0"/>
            </a:br>
            <a:r>
              <a:rPr lang="en-IN" sz="1500" b="1" dirty="0"/>
              <a:t>Tweets (short text content)</a:t>
            </a:r>
            <a:r>
              <a:rPr lang="en-IN" sz="1500" dirty="0"/>
              <a:t> perform well on each platforms → keep posts short &amp; fast-paced.</a:t>
            </a:r>
          </a:p>
          <a:p>
            <a:pPr marL="0" indent="0">
              <a:buNone/>
            </a:pPr>
            <a:r>
              <a:rPr lang="en-IN" sz="1500" b="1" dirty="0"/>
              <a:t>2. Platform vs Content Insights</a:t>
            </a:r>
          </a:p>
          <a:p>
            <a:pPr marL="0" indent="0">
              <a:buNone/>
            </a:pPr>
            <a:r>
              <a:rPr lang="en-IN" sz="1500" b="1" dirty="0"/>
              <a:t>Twitter: Images &gt; Carousel &gt; Video &gt; Tweets  </a:t>
            </a:r>
            <a:r>
              <a:rPr lang="en-IN" sz="1500" dirty="0"/>
              <a:t>→ Use sharp visuals, announcement graphics, product shots.</a:t>
            </a:r>
            <a:br>
              <a:rPr lang="en-IN" sz="1500" dirty="0"/>
            </a:br>
            <a:r>
              <a:rPr lang="en-IN" sz="1500" b="1" dirty="0"/>
              <a:t>LinkedIn: Video &gt; Image &gt; Tweet &gt; Carousel   </a:t>
            </a:r>
            <a:r>
              <a:rPr lang="en-IN" sz="1500" dirty="0"/>
              <a:t>→ Use professional product explainers, feature demos.</a:t>
            </a:r>
            <a:br>
              <a:rPr lang="en-IN" sz="1500" dirty="0"/>
            </a:br>
            <a:r>
              <a:rPr lang="en-IN" sz="1500" b="1" dirty="0"/>
              <a:t>Instagram: Video &gt; Carousel &gt; Tweet &gt; Image </a:t>
            </a:r>
            <a:r>
              <a:rPr lang="en-IN" sz="1500" dirty="0"/>
              <a:t>→ Post product galleries, lifestyle photos, comparisons.</a:t>
            </a:r>
            <a:br>
              <a:rPr lang="en-IN" sz="1500" dirty="0"/>
            </a:br>
            <a:r>
              <a:rPr lang="en-IN" sz="1500" b="1" dirty="0"/>
              <a:t>YouTube: Video dominates   </a:t>
            </a:r>
            <a:r>
              <a:rPr lang="en-IN" sz="1500" dirty="0"/>
              <a:t>→ Prioritize long-form reviews, feature highlights, event recaps.</a:t>
            </a:r>
            <a:endParaRPr lang="en-IN" sz="21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10DF7B6-98F3-C65B-A199-926F332705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444677"/>
              </p:ext>
            </p:extLst>
          </p:nvPr>
        </p:nvGraphicFramePr>
        <p:xfrm>
          <a:off x="111758" y="975360"/>
          <a:ext cx="566420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5301845-E44B-F531-1ECA-6A64079B46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862574"/>
              </p:ext>
            </p:extLst>
          </p:nvPr>
        </p:nvGraphicFramePr>
        <p:xfrm>
          <a:off x="6614160" y="975360"/>
          <a:ext cx="5364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2398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0238-BAB9-1FB6-3C99-EAE11B04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1779-D891-F9C4-E29B-EFDD64F1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909"/>
          </a:xfrm>
        </p:spPr>
        <p:txBody>
          <a:bodyPr/>
          <a:lstStyle/>
          <a:p>
            <a:pPr algn="ctr"/>
            <a:r>
              <a:rPr lang="en-IN" b="1" dirty="0"/>
              <a:t>Campaign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CE4A9-4D42-2BB3-8AE7-F5764B089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18503"/>
            <a:ext cx="12192000" cy="417870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5600" b="1" dirty="0"/>
              <a:t>Engagement Before vs During Campaigns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5600" dirty="0"/>
              <a:t> </a:t>
            </a:r>
            <a:r>
              <a:rPr lang="en-GB" sz="5600" b="1" dirty="0"/>
              <a:t>iPhone 16 Launch -</a:t>
            </a:r>
            <a:r>
              <a:rPr lang="en-GB" sz="5600" dirty="0"/>
              <a:t> Engagement jumped sharply from </a:t>
            </a:r>
            <a:r>
              <a:rPr lang="en-GB" sz="5600" b="1" dirty="0"/>
              <a:t>23K - 116K </a:t>
            </a:r>
            <a:r>
              <a:rPr lang="en-GB" sz="5600" dirty="0"/>
              <a:t>which is </a:t>
            </a:r>
            <a:r>
              <a:rPr lang="en-GB" sz="5600" b="1" dirty="0"/>
              <a:t>392%</a:t>
            </a:r>
            <a:r>
              <a:rPr lang="en-GB" sz="5600" dirty="0"/>
              <a:t> , the </a:t>
            </a:r>
            <a:r>
              <a:rPr lang="en-GB" sz="5600" b="1" dirty="0"/>
              <a:t>strongest uplift</a:t>
            </a:r>
            <a:r>
              <a:rPr lang="en-GB" sz="5600" dirty="0"/>
              <a:t> among all campaigns.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5600" b="1" dirty="0"/>
              <a:t>MacBook Air M3 Campaign</a:t>
            </a:r>
            <a:r>
              <a:rPr lang="en-GB" sz="5600" dirty="0"/>
              <a:t> Engagement increased from </a:t>
            </a:r>
            <a:r>
              <a:rPr lang="en-GB" sz="5600" b="1" dirty="0"/>
              <a:t>17K - 74K</a:t>
            </a:r>
            <a:r>
              <a:rPr lang="en-GB" sz="5600" dirty="0"/>
              <a:t>, which is </a:t>
            </a:r>
            <a:r>
              <a:rPr lang="en-GB" sz="5600" b="1" dirty="0"/>
              <a:t>332% ,</a:t>
            </a:r>
            <a:r>
              <a:rPr lang="en-GB" sz="5600" dirty="0"/>
              <a:t> showing strong campaign-driven interest.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5600" b="1" dirty="0"/>
              <a:t>Apple Watch Ultra 2 Launch-</a:t>
            </a:r>
            <a:r>
              <a:rPr lang="en-GB" sz="5600" dirty="0"/>
              <a:t> Engagement dropped from </a:t>
            </a:r>
            <a:r>
              <a:rPr lang="en-GB" sz="5600" b="1" dirty="0"/>
              <a:t>42K - 34K</a:t>
            </a:r>
            <a:r>
              <a:rPr lang="en-GB" sz="5600" dirty="0"/>
              <a:t>, which is </a:t>
            </a:r>
            <a:r>
              <a:rPr lang="en-GB" sz="5600" b="1" dirty="0"/>
              <a:t>18% , </a:t>
            </a:r>
            <a:r>
              <a:rPr lang="en-GB" sz="5600" dirty="0"/>
              <a:t>meaning the campaign did not boost activity.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5600" b="1" dirty="0"/>
              <a:t>Sustainability Awareness Drive-</a:t>
            </a:r>
            <a:r>
              <a:rPr lang="en-GB" sz="5600" dirty="0"/>
              <a:t> Engagement decreased from </a:t>
            </a:r>
            <a:r>
              <a:rPr lang="en-GB" sz="5600" b="1" dirty="0"/>
              <a:t>79K - 52K</a:t>
            </a:r>
            <a:r>
              <a:rPr lang="en-GB" sz="5600" dirty="0"/>
              <a:t>, which is </a:t>
            </a:r>
            <a:r>
              <a:rPr lang="en-GB" sz="5600" b="1" dirty="0"/>
              <a:t>34%, </a:t>
            </a:r>
            <a:r>
              <a:rPr lang="en-GB" sz="5600" dirty="0"/>
              <a:t>indicating lower audience interest during the campaign phase.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GB" sz="5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5600" b="1" dirty="0"/>
              <a:t>Engagement Per Dollar (ROI)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5600" b="1" dirty="0"/>
              <a:t>Sustainability Awareness Drive has the highest ROI (22 Eng/$) -</a:t>
            </a:r>
            <a:r>
              <a:rPr lang="en-IN" sz="5600" dirty="0"/>
              <a:t> Very cost-efficient despite lower engagement during campaign.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5600" b="1" dirty="0"/>
              <a:t>Apple Watch Ultra 2 Launch (18 Eng/$) -</a:t>
            </a:r>
            <a:r>
              <a:rPr lang="en-IN" sz="5600" dirty="0"/>
              <a:t> Strong ROI even though total engagement decreased — budget was used efficiently.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5600" b="1" dirty="0"/>
              <a:t>Apple Event Sept 2025 (14 Eng/$) -</a:t>
            </a:r>
            <a:r>
              <a:rPr lang="en-IN" sz="5600" dirty="0"/>
              <a:t> Solid return per dollar invested.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5600" b="1" dirty="0"/>
              <a:t>iPhone 16 Launch &amp; MacBook Air M3 -</a:t>
            </a:r>
            <a:r>
              <a:rPr lang="en-IN" sz="5600" dirty="0"/>
              <a:t> Lowest ROI (</a:t>
            </a:r>
            <a:r>
              <a:rPr lang="en-IN" sz="5600" b="1" dirty="0"/>
              <a:t>~10–11 Eng/$</a:t>
            </a:r>
            <a:r>
              <a:rPr lang="en-IN" sz="5600" dirty="0"/>
              <a:t>) despite very high total engagement.</a:t>
            </a:r>
          </a:p>
          <a:p>
            <a:pPr marL="0" indent="0">
              <a:buNone/>
            </a:pPr>
            <a:endParaRPr lang="en-GB" sz="3000" dirty="0"/>
          </a:p>
          <a:p>
            <a:pPr marL="0" indent="0">
              <a:buNone/>
            </a:pPr>
            <a:endParaRPr lang="en-IN" sz="1100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3D0AEB8-F980-E16F-E5C8-31E75A74FD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604769"/>
              </p:ext>
            </p:extLst>
          </p:nvPr>
        </p:nvGraphicFramePr>
        <p:xfrm>
          <a:off x="269236" y="781665"/>
          <a:ext cx="5403977" cy="264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BDFAA74-701B-A9E6-7C90-A437A4D6E7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9787302"/>
              </p:ext>
            </p:extLst>
          </p:nvPr>
        </p:nvGraphicFramePr>
        <p:xfrm>
          <a:off x="6518787" y="733732"/>
          <a:ext cx="540397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44903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1F9-DA53-706A-23B6-92B77B73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47A4-7FE9-3B49-17F1-7EEFE9F7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1099"/>
          </a:xfrm>
        </p:spPr>
        <p:txBody>
          <a:bodyPr/>
          <a:lstStyle/>
          <a:p>
            <a:pPr algn="ctr"/>
            <a:r>
              <a:rPr lang="en-IN" b="1" dirty="0"/>
              <a:t>Campaign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A0DD-5770-FEF1-CC9C-26D8CEC7E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43200"/>
            <a:ext cx="12192000" cy="455233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900" b="1" dirty="0"/>
              <a:t>Follower Gain During Campaign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900" b="1" dirty="0"/>
              <a:t>Sustainability Awareness Drive gained the highest followers (107K)</a:t>
            </a:r>
            <a:r>
              <a:rPr lang="en-GB" sz="2900" dirty="0"/>
              <a:t> — strongest reach and visibility.</a:t>
            </a:r>
            <a:br>
              <a:rPr lang="en-GB" sz="2900" dirty="0"/>
            </a:br>
            <a:r>
              <a:rPr lang="en-GB" sz="2900" b="1" dirty="0"/>
              <a:t>iPhone 16 Launch closely follows (106K)</a:t>
            </a:r>
            <a:r>
              <a:rPr lang="en-GB" sz="2900" dirty="0"/>
              <a:t> — huge audience interest around product launches.</a:t>
            </a:r>
            <a:br>
              <a:rPr lang="en-GB" sz="2900" dirty="0"/>
            </a:br>
            <a:r>
              <a:rPr lang="en-GB" sz="2900" b="1" dirty="0"/>
              <a:t>MacBook Air M3 Campaign (99K)</a:t>
            </a:r>
            <a:r>
              <a:rPr lang="en-GB" sz="2900" dirty="0"/>
              <a:t> — strong but slightly lower than the top two.</a:t>
            </a:r>
            <a:br>
              <a:rPr lang="en-GB" sz="2900" dirty="0"/>
            </a:br>
            <a:r>
              <a:rPr lang="en-GB" sz="2900" b="1" dirty="0"/>
              <a:t>Apple Watch Ultra 2 Launch (50K)</a:t>
            </a:r>
            <a:r>
              <a:rPr lang="en-GB" sz="2900" dirty="0"/>
              <a:t> — moderate follower gain compared to other product launches.</a:t>
            </a:r>
            <a:br>
              <a:rPr lang="en-GB" sz="2900" dirty="0"/>
            </a:br>
            <a:r>
              <a:rPr lang="en-GB" sz="2900" b="1" dirty="0"/>
              <a:t>Apple Event Sept 2025 gained </a:t>
            </a:r>
            <a:r>
              <a:rPr lang="en-GB" sz="2900" dirty="0"/>
              <a:t> — no impact on audience growth.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900" b="1" dirty="0"/>
              <a:t>Follower Growth Rate During Campaign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900" b="1" dirty="0"/>
              <a:t>iPhone 16 Launch has the highest growth rate (52.8%)</a:t>
            </a:r>
            <a:r>
              <a:rPr lang="en-GB" sz="2900" dirty="0"/>
              <a:t> — massive spike in new followers.</a:t>
            </a:r>
            <a:br>
              <a:rPr lang="en-GB" sz="2900" dirty="0"/>
            </a:br>
            <a:r>
              <a:rPr lang="en-GB" sz="2900" b="1" dirty="0"/>
              <a:t>MacBook Air M3 sees solid growth (18.29%)</a:t>
            </a:r>
            <a:r>
              <a:rPr lang="en-GB" sz="2900" dirty="0"/>
              <a:t>, showing strong interest without the same hype level as iPhone.</a:t>
            </a:r>
            <a:br>
              <a:rPr lang="en-GB" sz="2900" dirty="0"/>
            </a:br>
            <a:r>
              <a:rPr lang="en-GB" sz="2900" b="1" dirty="0"/>
              <a:t>Sustainability Awareness Drive (10.56%)</a:t>
            </a:r>
            <a:r>
              <a:rPr lang="en-GB" sz="2900" dirty="0"/>
              <a:t> — moderate growth despite high follower gain because the starting base was larger.</a:t>
            </a:r>
            <a:br>
              <a:rPr lang="en-GB" sz="2900" dirty="0"/>
            </a:br>
            <a:r>
              <a:rPr lang="en-GB" sz="2900" b="1" dirty="0"/>
              <a:t>Apple Watch Ultra 2 Launch (6.55%)</a:t>
            </a:r>
            <a:r>
              <a:rPr lang="en-GB" sz="2900" dirty="0"/>
              <a:t> — minimal follower growth.</a:t>
            </a:r>
            <a:br>
              <a:rPr lang="en-GB" sz="2900" dirty="0"/>
            </a:br>
            <a:r>
              <a:rPr lang="en-GB" sz="2900" b="1" dirty="0"/>
              <a:t>Apple Event Sept 2025 – 0% growth</a:t>
            </a:r>
            <a:r>
              <a:rPr lang="en-GB" sz="2900" dirty="0"/>
              <a:t> — no audience expansion.</a:t>
            </a:r>
            <a:endParaRPr lang="en-IN" sz="2900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EEABA7-E1BA-092C-B9AD-C7DCD3FF23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147658"/>
              </p:ext>
            </p:extLst>
          </p:nvPr>
        </p:nvGraphicFramePr>
        <p:xfrm>
          <a:off x="142241" y="809175"/>
          <a:ext cx="538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7DA1C08-9B6C-E17B-1219-E8AC224381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194287"/>
              </p:ext>
            </p:extLst>
          </p:nvPr>
        </p:nvGraphicFramePr>
        <p:xfrm>
          <a:off x="6664959" y="809175"/>
          <a:ext cx="538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7304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642E-4294-F3D8-DDAB-9B82B269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6916-1223-37BA-3FA6-3638E0E2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Follower Retention &amp;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55D8-C21F-67F4-DD7A-5637606E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107975"/>
            <a:ext cx="12192000" cy="413839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/>
              <a:t>YouTube</a:t>
            </a:r>
            <a:r>
              <a:rPr lang="en-GB" sz="4000" dirty="0"/>
              <a:t> – Highest Retention &amp; Most Loyal Audience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/>
              <a:t>Twitter</a:t>
            </a:r>
            <a:r>
              <a:rPr lang="en-GB" sz="4000" dirty="0"/>
              <a:t> – Strong Retention with Occasional Fluctuations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/>
              <a:t>LinkedIn</a:t>
            </a:r>
            <a:r>
              <a:rPr lang="en-GB" sz="4000" dirty="0"/>
              <a:t> – Moderate Retention, High Volatility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/>
              <a:t>Instagram</a:t>
            </a:r>
            <a:r>
              <a:rPr lang="en-GB" sz="4000" dirty="0"/>
              <a:t> – Weak Retention &amp; High Drop-offs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4000" b="1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4000" b="1" dirty="0"/>
              <a:t>YouTube and Twitter show strong follower loyalty, while LinkedIn and Instagram experience high volatility and weaker retention.</a:t>
            </a:r>
            <a:endParaRPr lang="en-GB" sz="4000" dirty="0"/>
          </a:p>
          <a:p>
            <a:pPr marL="0" indent="0">
              <a:buNone/>
            </a:pPr>
            <a:endParaRPr lang="en-GB" sz="3400" b="1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BCDD600-5F90-4A23-47F5-3910CB6F72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321467"/>
              </p:ext>
            </p:extLst>
          </p:nvPr>
        </p:nvGraphicFramePr>
        <p:xfrm>
          <a:off x="668593" y="510622"/>
          <a:ext cx="10363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1420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32EB-F87E-54CA-81B2-9D81A949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BB2B-8E94-4251-5638-976F05D1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8079"/>
          </a:xfrm>
        </p:spPr>
        <p:txBody>
          <a:bodyPr/>
          <a:lstStyle/>
          <a:p>
            <a:pPr algn="ctr"/>
            <a:r>
              <a:rPr lang="en-IN" b="1" dirty="0"/>
              <a:t>Follower Retention &amp;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B831-3C16-670F-A6E8-271CD6A64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90824"/>
            <a:ext cx="12192000" cy="46767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Loyalty Insight from Correlation (Ad Spend vs Net Follower Gain)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dirty="0"/>
              <a:t>The scatter plot shows </a:t>
            </a:r>
            <a:r>
              <a:rPr lang="en-GB" sz="2600" b="1" dirty="0"/>
              <a:t>no clear upward trend</a:t>
            </a:r>
            <a:r>
              <a:rPr lang="en-GB" sz="2600" dirty="0"/>
              <a:t> — points are spread randomly.</a:t>
            </a:r>
            <a:br>
              <a:rPr lang="en-GB" sz="2600" dirty="0"/>
            </a:br>
            <a:r>
              <a:rPr lang="en-GB" sz="2600" dirty="0"/>
              <a:t>This means </a:t>
            </a:r>
            <a:r>
              <a:rPr lang="en-GB" sz="2600" b="1" dirty="0"/>
              <a:t>higher ad spend does NOT guarantee higher follower gain</a:t>
            </a:r>
            <a:r>
              <a:rPr lang="en-GB" sz="2600" dirty="0"/>
              <a:t>.</a:t>
            </a:r>
            <a:br>
              <a:rPr lang="en-GB" sz="2600" dirty="0"/>
            </a:br>
            <a:r>
              <a:rPr lang="en-GB" sz="2600" dirty="0"/>
              <a:t>Follower loyalty is </a:t>
            </a:r>
            <a:r>
              <a:rPr lang="en-GB" sz="2600" b="1" dirty="0"/>
              <a:t>not influenced by ad spend</a:t>
            </a:r>
            <a:r>
              <a:rPr lang="en-GB" sz="2600" dirty="0"/>
              <a:t>, but by: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content quality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platform engagement style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organic interest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campaign relevance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IN" sz="2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600" b="1" dirty="0"/>
              <a:t>Retention depends on consistent value and content, not ad spend. Loyal followers stay even without heavy paid promotion.</a:t>
            </a:r>
            <a:endParaRPr lang="en-IN" sz="2600" b="1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dirty="0"/>
              <a:t>             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                          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C91B92A-E000-5244-A188-7F34C61538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9867022"/>
              </p:ext>
            </p:extLst>
          </p:nvPr>
        </p:nvGraphicFramePr>
        <p:xfrm>
          <a:off x="1962150" y="924560"/>
          <a:ext cx="81248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71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D46D-6A26-8675-991D-431C728A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0599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Final Recommendations for Apple’s Social Media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FA627-3049-FA11-A058-466F549B4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95351"/>
            <a:ext cx="6019800" cy="513397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1. Invest More in YouTube &amp; Twitter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Highest follower growth (1.42% &amp; 1.38%)</a:t>
            </a: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Strongest retention</a:t>
            </a:r>
            <a:r>
              <a:rPr lang="en-GB" sz="1600" dirty="0"/>
              <a:t> (smooth weekly growth)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Best ROI</a:t>
            </a:r>
            <a:r>
              <a:rPr lang="en-GB" sz="1600" dirty="0"/>
              <a:t> (YouTube lowest ad cost per engagement)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Data proves these two give maximum long-term value.</a:t>
            </a:r>
            <a:br>
              <a:rPr lang="en-GB" sz="1600" dirty="0"/>
            </a:b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2. Reduce Spend on LinkedIn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Highest ad spend per engagement</a:t>
            </a:r>
            <a:r>
              <a:rPr lang="en-GB" sz="1600" dirty="0"/>
              <a:t> ($2573)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Lowest growth rate</a:t>
            </a:r>
            <a:r>
              <a:rPr lang="en-GB" sz="1600" dirty="0"/>
              <a:t> (0.94%)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High volatility in weekly growth</a:t>
            </a: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Data shows LinkedIn is least cost-effective.</a:t>
            </a:r>
            <a:br>
              <a:rPr lang="en-GB" sz="1600" dirty="0"/>
            </a:b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3. Use High-Performing Hashtags More Often</a:t>
            </a:r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#ShotOnIPhone (15.33%)</a:t>
            </a: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#HealthTech (14.38%)</a:t>
            </a: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#AppleLifestyle (13.49%)</a:t>
            </a:r>
            <a:endParaRPr lang="en-GB" sz="1600" dirty="0"/>
          </a:p>
          <a:p>
            <a:pPr marL="0" indent="0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These consistently outperform the rest.</a:t>
            </a:r>
            <a:endParaRPr lang="en-GB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16375-F5B5-0828-4BBB-425254EB2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95351"/>
            <a:ext cx="6019800" cy="513397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4. Prioritize Platform-Specific Content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Video performs best on YouTube &amp; LinkedIn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Images perform best on Twitter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Carousels/Reels perform best on Instagram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Match content to platform strengths for higher engagement.</a:t>
            </a:r>
            <a:br>
              <a:rPr lang="en-GB" sz="1600" dirty="0"/>
            </a:b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5. Optimize Spend on Launch Campaigns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/>
              <a:t>iPhone &amp; MacBook launches: </a:t>
            </a:r>
            <a:r>
              <a:rPr lang="en-GB" sz="1600" b="1" dirty="0"/>
              <a:t>highest engagement</a:t>
            </a:r>
            <a:r>
              <a:rPr lang="en-GB" sz="1600" dirty="0"/>
              <a:t> but </a:t>
            </a:r>
            <a:r>
              <a:rPr lang="en-GB" sz="1600" b="1" dirty="0"/>
              <a:t>low ROI (10–11 Eng/$)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/>
              <a:t>Sustainability drive: </a:t>
            </a:r>
            <a:r>
              <a:rPr lang="en-GB" sz="1600" b="1" dirty="0"/>
              <a:t>best ROI (22 Eng/$)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/>
              <a:t>Apple Watch campaign: </a:t>
            </a:r>
            <a:r>
              <a:rPr lang="en-GB" sz="1600" b="1" dirty="0"/>
              <a:t>engagement + follower growth dropped</a:t>
            </a: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Spend more on high-ROI themes; refine low-performing launch campaigns.</a:t>
            </a:r>
            <a:br>
              <a:rPr lang="en-GB" sz="1600" dirty="0"/>
            </a:br>
            <a:endParaRPr lang="en-GB" sz="1600" dirty="0"/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6. Do Not Rely on Ads for Growth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/>
              <a:t>Scatter plots show </a:t>
            </a:r>
            <a:r>
              <a:rPr lang="en-GB" sz="1600" b="1" dirty="0"/>
              <a:t>no correlation</a:t>
            </a:r>
            <a:r>
              <a:rPr lang="en-GB" sz="1600" dirty="0"/>
              <a:t> between ad spend and follower gain/growth rate.</a:t>
            </a:r>
          </a:p>
          <a:p>
            <a:pPr marL="0" indent="0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b="1" dirty="0"/>
              <a:t>Follower loyalty is organic → focus on content quality, not ad budgets.</a:t>
            </a:r>
            <a:endParaRPr lang="en-GB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F020F-3E8D-7E49-E6F0-A5DAF09CF55A}"/>
              </a:ext>
            </a:extLst>
          </p:cNvPr>
          <p:cNvSpPr/>
          <p:nvPr/>
        </p:nvSpPr>
        <p:spPr>
          <a:xfrm>
            <a:off x="-76200" y="6105525"/>
            <a:ext cx="12192000" cy="600075"/>
          </a:xfrm>
          <a:prstGeom prst="rect">
            <a:avLst/>
          </a:prstGeom>
          <a:blipFill dpi="0" rotWithShape="1">
            <a:blip r:embed="rId2">
              <a:alphaModFix amt="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Shift budget toward YouTube &amp; Twitter, use winning hashtags, focus on platform-specific content, and improve campaign efficiency rather than increasing ad spend.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961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1802</Words>
  <Application>Microsoft Office PowerPoint</Application>
  <PresentationFormat>Widescreen</PresentationFormat>
  <Paragraphs>210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Office Theme</vt:lpstr>
      <vt:lpstr>Apple Social Media Analytics for Strategic Branding</vt:lpstr>
      <vt:lpstr>Engagement Analysis</vt:lpstr>
      <vt:lpstr>Platform Analysis</vt:lpstr>
      <vt:lpstr>Platform Analysis</vt:lpstr>
      <vt:lpstr>Hashtag &amp; Content Strategy</vt:lpstr>
      <vt:lpstr>Hashtag &amp; Content Strategy</vt:lpstr>
      <vt:lpstr>Hashtag &amp; Content Strategy</vt:lpstr>
      <vt:lpstr>Campaign Effectiveness</vt:lpstr>
      <vt:lpstr>Campaign Effectiveness</vt:lpstr>
      <vt:lpstr>Follower Retention &amp; Loyalty</vt:lpstr>
      <vt:lpstr>Follower Retention &amp; Loyalty</vt:lpstr>
      <vt:lpstr>Final Recommendations for Apple’s Social Media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Mahto</dc:creator>
  <cp:lastModifiedBy>Nihal Mahto</cp:lastModifiedBy>
  <cp:revision>4</cp:revision>
  <dcterms:created xsi:type="dcterms:W3CDTF">2025-11-16T15:31:28Z</dcterms:created>
  <dcterms:modified xsi:type="dcterms:W3CDTF">2025-11-17T19:10:38Z</dcterms:modified>
</cp:coreProperties>
</file>